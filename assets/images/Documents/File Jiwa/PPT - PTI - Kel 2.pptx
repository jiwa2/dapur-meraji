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BM Hanna" charset="1" panose="02000503000000020003"/>
      <p:regular r:id="rId15"/>
    </p:embeddedFont>
    <p:embeddedFont>
      <p:font typeface="Canva Sans Bold" charset="1" panose="020B0803030501040103"/>
      <p:regular r:id="rId16"/>
    </p:embeddedFont>
    <p:embeddedFont>
      <p:font typeface="Canva Sans" charset="1" panose="020B0503030501040103"/>
      <p:regular r:id="rId17"/>
    </p:embeddedFont>
    <p:embeddedFont>
      <p:font typeface="Canva Sans Italics" charset="1" panose="020B0503030501040103"/>
      <p:regular r:id="rId18"/>
    </p:embeddedFont>
    <p:embeddedFont>
      <p:font typeface="Canva Sans Bold Italics"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2" Target="../media/image1.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2" Target="../media/image1.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46.png" Type="http://schemas.openxmlformats.org/officeDocument/2006/relationships/image"/><Relationship Id="rId6" Target="../media/image4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6.png" Type="http://schemas.openxmlformats.org/officeDocument/2006/relationships/image"/><Relationship Id="rId14" Target="../media/image7.svg" Type="http://schemas.openxmlformats.org/officeDocument/2006/relationships/image"/><Relationship Id="rId15" Target="../media/image8.png" Type="http://schemas.openxmlformats.org/officeDocument/2006/relationships/image"/><Relationship Id="rId16" Target="../media/image9.svg" Type="http://schemas.openxmlformats.org/officeDocument/2006/relationships/image"/><Relationship Id="rId2" Target="../media/image1.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TextBox 3" id="3"/>
          <p:cNvSpPr txBox="true"/>
          <p:nvPr/>
        </p:nvSpPr>
        <p:spPr>
          <a:xfrm rot="0">
            <a:off x="831594" y="1821855"/>
            <a:ext cx="15112498" cy="2797518"/>
          </a:xfrm>
          <a:prstGeom prst="rect">
            <a:avLst/>
          </a:prstGeom>
        </p:spPr>
        <p:txBody>
          <a:bodyPr anchor="t" rtlCol="false" tIns="0" lIns="0" bIns="0" rIns="0">
            <a:spAutoFit/>
          </a:bodyPr>
          <a:lstStyle/>
          <a:p>
            <a:pPr algn="ctr" marL="0" indent="0" lvl="0">
              <a:lnSpc>
                <a:spcPts val="10726"/>
              </a:lnSpc>
              <a:spcBef>
                <a:spcPct val="0"/>
              </a:spcBef>
            </a:pPr>
            <a:r>
              <a:rPr lang="en-US" sz="11058">
                <a:solidFill>
                  <a:srgbClr val="FFFFFF"/>
                </a:solidFill>
                <a:latin typeface="BM Hanna"/>
                <a:ea typeface="BM Hanna"/>
                <a:cs typeface="BM Hanna"/>
                <a:sym typeface="BM Hanna"/>
              </a:rPr>
              <a:t>PENGANTAR TEKNOLOGI INFORMASI</a:t>
            </a:r>
          </a:p>
        </p:txBody>
      </p:sp>
      <p:sp>
        <p:nvSpPr>
          <p:cNvPr name="Freeform 4" id="4"/>
          <p:cNvSpPr/>
          <p:nvPr/>
        </p:nvSpPr>
        <p:spPr>
          <a:xfrm flipH="false" flipV="false" rot="0">
            <a:off x="13209822" y="3728307"/>
            <a:ext cx="7065092" cy="8144199"/>
          </a:xfrm>
          <a:custGeom>
            <a:avLst/>
            <a:gdLst/>
            <a:ahLst/>
            <a:cxnLst/>
            <a:rect r="r" b="b" t="t" l="l"/>
            <a:pathLst>
              <a:path h="8144199" w="7065092">
                <a:moveTo>
                  <a:pt x="0" y="0"/>
                </a:moveTo>
                <a:lnTo>
                  <a:pt x="7065093" y="0"/>
                </a:lnTo>
                <a:lnTo>
                  <a:pt x="7065093" y="8144199"/>
                </a:lnTo>
                <a:lnTo>
                  <a:pt x="0" y="81441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5863095" y="5752848"/>
            <a:ext cx="6561811" cy="1212850"/>
            <a:chOff x="0" y="0"/>
            <a:chExt cx="1728214" cy="319434"/>
          </a:xfrm>
        </p:grpSpPr>
        <p:sp>
          <p:nvSpPr>
            <p:cNvPr name="Freeform 6" id="6"/>
            <p:cNvSpPr/>
            <p:nvPr/>
          </p:nvSpPr>
          <p:spPr>
            <a:xfrm flipH="false" flipV="false" rot="0">
              <a:off x="0" y="0"/>
              <a:ext cx="1728214" cy="319434"/>
            </a:xfrm>
            <a:custGeom>
              <a:avLst/>
              <a:gdLst/>
              <a:ahLst/>
              <a:cxnLst/>
              <a:rect r="r" b="b" t="t" l="l"/>
              <a:pathLst>
                <a:path h="319434" w="1728214">
                  <a:moveTo>
                    <a:pt x="117985" y="0"/>
                  </a:moveTo>
                  <a:lnTo>
                    <a:pt x="1610229" y="0"/>
                  </a:lnTo>
                  <a:cubicBezTo>
                    <a:pt x="1641520" y="0"/>
                    <a:pt x="1671530" y="12430"/>
                    <a:pt x="1693657" y="34557"/>
                  </a:cubicBezTo>
                  <a:cubicBezTo>
                    <a:pt x="1715783" y="56683"/>
                    <a:pt x="1728214" y="86693"/>
                    <a:pt x="1728214" y="117985"/>
                  </a:cubicBezTo>
                  <a:lnTo>
                    <a:pt x="1728214" y="201449"/>
                  </a:lnTo>
                  <a:cubicBezTo>
                    <a:pt x="1728214" y="232741"/>
                    <a:pt x="1715783" y="262751"/>
                    <a:pt x="1693657" y="284877"/>
                  </a:cubicBezTo>
                  <a:cubicBezTo>
                    <a:pt x="1671530" y="307003"/>
                    <a:pt x="1641520" y="319434"/>
                    <a:pt x="1610229" y="319434"/>
                  </a:cubicBezTo>
                  <a:lnTo>
                    <a:pt x="117985" y="319434"/>
                  </a:lnTo>
                  <a:cubicBezTo>
                    <a:pt x="86693" y="319434"/>
                    <a:pt x="56683" y="307003"/>
                    <a:pt x="34557" y="284877"/>
                  </a:cubicBezTo>
                  <a:cubicBezTo>
                    <a:pt x="12430" y="262751"/>
                    <a:pt x="0" y="232741"/>
                    <a:pt x="0" y="201449"/>
                  </a:cubicBezTo>
                  <a:lnTo>
                    <a:pt x="0" y="117985"/>
                  </a:lnTo>
                  <a:cubicBezTo>
                    <a:pt x="0" y="86693"/>
                    <a:pt x="12430" y="56683"/>
                    <a:pt x="34557" y="34557"/>
                  </a:cubicBezTo>
                  <a:cubicBezTo>
                    <a:pt x="56683" y="12430"/>
                    <a:pt x="86693" y="0"/>
                    <a:pt x="117985" y="0"/>
                  </a:cubicBezTo>
                  <a:close/>
                </a:path>
              </a:pathLst>
            </a:custGeom>
            <a:solidFill>
              <a:srgbClr val="FFCE32"/>
            </a:solidFill>
          </p:spPr>
        </p:sp>
        <p:sp>
          <p:nvSpPr>
            <p:cNvPr name="TextBox 7" id="7"/>
            <p:cNvSpPr txBox="true"/>
            <p:nvPr/>
          </p:nvSpPr>
          <p:spPr>
            <a:xfrm>
              <a:off x="0" y="-28575"/>
              <a:ext cx="1728214" cy="348009"/>
            </a:xfrm>
            <a:prstGeom prst="rect">
              <a:avLst/>
            </a:prstGeom>
          </p:spPr>
          <p:txBody>
            <a:bodyPr anchor="ctr" rtlCol="false" tIns="50800" lIns="50800" bIns="50800" rIns="50800"/>
            <a:lstStyle/>
            <a:p>
              <a:pPr algn="ctr">
                <a:lnSpc>
                  <a:spcPts val="3437"/>
                </a:lnSpc>
              </a:pPr>
            </a:p>
          </p:txBody>
        </p:sp>
      </p:grpSp>
      <p:sp>
        <p:nvSpPr>
          <p:cNvPr name="Freeform 8" id="8"/>
          <p:cNvSpPr/>
          <p:nvPr/>
        </p:nvSpPr>
        <p:spPr>
          <a:xfrm flipH="false" flipV="false" rot="0">
            <a:off x="13833448" y="-1279629"/>
            <a:ext cx="5817841" cy="4114800"/>
          </a:xfrm>
          <a:custGeom>
            <a:avLst/>
            <a:gdLst/>
            <a:ahLst/>
            <a:cxnLst/>
            <a:rect r="r" b="b" t="t" l="l"/>
            <a:pathLst>
              <a:path h="4114800" w="5817841">
                <a:moveTo>
                  <a:pt x="0" y="0"/>
                </a:moveTo>
                <a:lnTo>
                  <a:pt x="5817841" y="0"/>
                </a:lnTo>
                <a:lnTo>
                  <a:pt x="581784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969084" y="-1028700"/>
            <a:ext cx="5155216" cy="4114800"/>
          </a:xfrm>
          <a:custGeom>
            <a:avLst/>
            <a:gdLst/>
            <a:ahLst/>
            <a:cxnLst/>
            <a:rect r="r" b="b" t="t" l="l"/>
            <a:pathLst>
              <a:path h="4114800" w="5155216">
                <a:moveTo>
                  <a:pt x="0" y="0"/>
                </a:moveTo>
                <a:lnTo>
                  <a:pt x="5155216" y="0"/>
                </a:lnTo>
                <a:lnTo>
                  <a:pt x="5155216"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526312">
            <a:off x="-796615" y="5045557"/>
            <a:ext cx="7584413" cy="6908710"/>
          </a:xfrm>
          <a:custGeom>
            <a:avLst/>
            <a:gdLst/>
            <a:ahLst/>
            <a:cxnLst/>
            <a:rect r="r" b="b" t="t" l="l"/>
            <a:pathLst>
              <a:path h="6908710" w="7584413">
                <a:moveTo>
                  <a:pt x="0" y="0"/>
                </a:moveTo>
                <a:lnTo>
                  <a:pt x="7584413" y="0"/>
                </a:lnTo>
                <a:lnTo>
                  <a:pt x="7584413" y="6908710"/>
                </a:lnTo>
                <a:lnTo>
                  <a:pt x="0" y="69087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5863095" y="6017961"/>
            <a:ext cx="6561811" cy="644525"/>
          </a:xfrm>
          <a:prstGeom prst="rect">
            <a:avLst/>
          </a:prstGeom>
        </p:spPr>
        <p:txBody>
          <a:bodyPr anchor="t" rtlCol="false" tIns="0" lIns="0" bIns="0" rIns="0">
            <a:spAutoFit/>
          </a:bodyPr>
          <a:lstStyle/>
          <a:p>
            <a:pPr algn="ctr" marL="0" indent="0" lvl="0">
              <a:lnSpc>
                <a:spcPts val="5199"/>
              </a:lnSpc>
            </a:pPr>
            <a:r>
              <a:rPr lang="en-US" b="true" sz="3999">
                <a:solidFill>
                  <a:srgbClr val="000000"/>
                </a:solidFill>
                <a:latin typeface="Canva Sans Bold"/>
                <a:ea typeface="Canva Sans Bold"/>
                <a:cs typeface="Canva Sans Bold"/>
                <a:sym typeface="Canva Sans Bold"/>
              </a:rPr>
              <a:t>MEMORY</a:t>
            </a:r>
          </a:p>
        </p:txBody>
      </p:sp>
      <p:sp>
        <p:nvSpPr>
          <p:cNvPr name="TextBox 12" id="12"/>
          <p:cNvSpPr txBox="true"/>
          <p:nvPr/>
        </p:nvSpPr>
        <p:spPr>
          <a:xfrm rot="0">
            <a:off x="7044333" y="7771831"/>
            <a:ext cx="4199333" cy="981075"/>
          </a:xfrm>
          <a:prstGeom prst="rect">
            <a:avLst/>
          </a:prstGeom>
        </p:spPr>
        <p:txBody>
          <a:bodyPr anchor="t" rtlCol="false" tIns="0" lIns="0" bIns="0" rIns="0">
            <a:spAutoFit/>
          </a:bodyPr>
          <a:lstStyle/>
          <a:p>
            <a:pPr algn="ctr" marL="0" indent="0" lvl="0">
              <a:lnSpc>
                <a:spcPts val="3900"/>
              </a:lnSpc>
            </a:pPr>
            <a:r>
              <a:rPr lang="en-US" sz="3000">
                <a:solidFill>
                  <a:srgbClr val="FFFFFF"/>
                </a:solidFill>
                <a:latin typeface="Canva Sans"/>
                <a:ea typeface="Canva Sans"/>
                <a:cs typeface="Canva Sans"/>
                <a:sym typeface="Canva Sans"/>
              </a:rPr>
              <a:t>Presentation By Group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0">
            <a:off x="-571592" y="-85725"/>
            <a:ext cx="4910563" cy="4437363"/>
          </a:xfrm>
          <a:custGeom>
            <a:avLst/>
            <a:gdLst/>
            <a:ahLst/>
            <a:cxnLst/>
            <a:rect r="r" b="b" t="t" l="l"/>
            <a:pathLst>
              <a:path h="4437363" w="4910563">
                <a:moveTo>
                  <a:pt x="0" y="0"/>
                </a:moveTo>
                <a:lnTo>
                  <a:pt x="4910562" y="0"/>
                </a:lnTo>
                <a:lnTo>
                  <a:pt x="4910562" y="4437363"/>
                </a:lnTo>
                <a:lnTo>
                  <a:pt x="0" y="4437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949030" y="-85725"/>
            <a:ext cx="4910563" cy="4437363"/>
          </a:xfrm>
          <a:custGeom>
            <a:avLst/>
            <a:gdLst/>
            <a:ahLst/>
            <a:cxnLst/>
            <a:rect r="r" b="b" t="t" l="l"/>
            <a:pathLst>
              <a:path h="4437363" w="4910563">
                <a:moveTo>
                  <a:pt x="4910562" y="0"/>
                </a:moveTo>
                <a:lnTo>
                  <a:pt x="0" y="0"/>
                </a:lnTo>
                <a:lnTo>
                  <a:pt x="0" y="4437363"/>
                </a:lnTo>
                <a:lnTo>
                  <a:pt x="4910562" y="4437363"/>
                </a:lnTo>
                <a:lnTo>
                  <a:pt x="491056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15627" y="4171633"/>
            <a:ext cx="4847311" cy="2361962"/>
          </a:xfrm>
          <a:custGeom>
            <a:avLst/>
            <a:gdLst/>
            <a:ahLst/>
            <a:cxnLst/>
            <a:rect r="r" b="b" t="t" l="l"/>
            <a:pathLst>
              <a:path h="2361962" w="4847311">
                <a:moveTo>
                  <a:pt x="0" y="0"/>
                </a:moveTo>
                <a:lnTo>
                  <a:pt x="4847311" y="0"/>
                </a:lnTo>
                <a:lnTo>
                  <a:pt x="4847311" y="2361962"/>
                </a:lnTo>
                <a:lnTo>
                  <a:pt x="0" y="23619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720345" y="4171633"/>
            <a:ext cx="4847311" cy="2361962"/>
          </a:xfrm>
          <a:custGeom>
            <a:avLst/>
            <a:gdLst/>
            <a:ahLst/>
            <a:cxnLst/>
            <a:rect r="r" b="b" t="t" l="l"/>
            <a:pathLst>
              <a:path h="2361962" w="4847311">
                <a:moveTo>
                  <a:pt x="0" y="0"/>
                </a:moveTo>
                <a:lnTo>
                  <a:pt x="4847310" y="0"/>
                </a:lnTo>
                <a:lnTo>
                  <a:pt x="4847310" y="2361962"/>
                </a:lnTo>
                <a:lnTo>
                  <a:pt x="0" y="23619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2125062" y="4171633"/>
            <a:ext cx="4847311" cy="2361962"/>
          </a:xfrm>
          <a:custGeom>
            <a:avLst/>
            <a:gdLst/>
            <a:ahLst/>
            <a:cxnLst/>
            <a:rect r="r" b="b" t="t" l="l"/>
            <a:pathLst>
              <a:path h="2361962" w="4847311">
                <a:moveTo>
                  <a:pt x="0" y="0"/>
                </a:moveTo>
                <a:lnTo>
                  <a:pt x="4847311" y="0"/>
                </a:lnTo>
                <a:lnTo>
                  <a:pt x="4847311" y="2361962"/>
                </a:lnTo>
                <a:lnTo>
                  <a:pt x="0" y="23619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334131" y="3585361"/>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738848" y="3585361"/>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4143565" y="3585361"/>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4659189" y="662295"/>
            <a:ext cx="8969623" cy="2539999"/>
          </a:xfrm>
          <a:prstGeom prst="rect">
            <a:avLst/>
          </a:prstGeom>
        </p:spPr>
        <p:txBody>
          <a:bodyPr anchor="t" rtlCol="false" tIns="0" lIns="0" bIns="0" rIns="0">
            <a:spAutoFit/>
          </a:bodyPr>
          <a:lstStyle/>
          <a:p>
            <a:pPr algn="ctr" marL="0" indent="0" lvl="0">
              <a:lnSpc>
                <a:spcPts val="9699"/>
              </a:lnSpc>
              <a:spcBef>
                <a:spcPct val="0"/>
              </a:spcBef>
            </a:pPr>
            <a:r>
              <a:rPr lang="en-US" sz="9999">
                <a:solidFill>
                  <a:srgbClr val="FFFFFF"/>
                </a:solidFill>
                <a:latin typeface="BM Hanna"/>
                <a:ea typeface="BM Hanna"/>
                <a:cs typeface="BM Hanna"/>
                <a:sym typeface="BM Hanna"/>
              </a:rPr>
              <a:t>ANGGOTA KELOMPOK</a:t>
            </a:r>
          </a:p>
        </p:txBody>
      </p:sp>
      <p:sp>
        <p:nvSpPr>
          <p:cNvPr name="TextBox 12" id="12"/>
          <p:cNvSpPr txBox="true"/>
          <p:nvPr/>
        </p:nvSpPr>
        <p:spPr>
          <a:xfrm rot="0">
            <a:off x="519878" y="5029738"/>
            <a:ext cx="6438809" cy="739122"/>
          </a:xfrm>
          <a:prstGeom prst="rect">
            <a:avLst/>
          </a:prstGeom>
        </p:spPr>
        <p:txBody>
          <a:bodyPr anchor="t" rtlCol="false" tIns="0" lIns="0" bIns="0" rIns="0">
            <a:spAutoFit/>
          </a:bodyPr>
          <a:lstStyle/>
          <a:p>
            <a:pPr algn="ctr" marL="0" indent="0" lvl="0">
              <a:lnSpc>
                <a:spcPts val="5979"/>
              </a:lnSpc>
            </a:pPr>
            <a:r>
              <a:rPr lang="en-US" sz="4599">
                <a:solidFill>
                  <a:srgbClr val="000000"/>
                </a:solidFill>
                <a:latin typeface="Canva Sans"/>
                <a:ea typeface="Canva Sans"/>
                <a:cs typeface="Canva Sans"/>
                <a:sym typeface="Canva Sans"/>
              </a:rPr>
              <a:t>M. Jiwa. I</a:t>
            </a:r>
          </a:p>
        </p:txBody>
      </p:sp>
      <p:sp>
        <p:nvSpPr>
          <p:cNvPr name="TextBox 13" id="13"/>
          <p:cNvSpPr txBox="true"/>
          <p:nvPr/>
        </p:nvSpPr>
        <p:spPr>
          <a:xfrm rot="0">
            <a:off x="6380918" y="4997404"/>
            <a:ext cx="5526164" cy="672319"/>
          </a:xfrm>
          <a:prstGeom prst="rect">
            <a:avLst/>
          </a:prstGeom>
        </p:spPr>
        <p:txBody>
          <a:bodyPr anchor="t" rtlCol="false" tIns="0" lIns="0" bIns="0" rIns="0">
            <a:spAutoFit/>
          </a:bodyPr>
          <a:lstStyle/>
          <a:p>
            <a:pPr algn="ctr" marL="0" indent="0" lvl="0">
              <a:lnSpc>
                <a:spcPts val="5410"/>
              </a:lnSpc>
            </a:pPr>
            <a:r>
              <a:rPr lang="en-US" sz="4161">
                <a:solidFill>
                  <a:srgbClr val="000000"/>
                </a:solidFill>
                <a:latin typeface="Canva Sans"/>
                <a:ea typeface="Canva Sans"/>
                <a:cs typeface="Canva Sans"/>
                <a:sym typeface="Canva Sans"/>
              </a:rPr>
              <a:t>Raka Muzakir</a:t>
            </a:r>
          </a:p>
        </p:txBody>
      </p:sp>
      <p:sp>
        <p:nvSpPr>
          <p:cNvPr name="TextBox 14" id="14"/>
          <p:cNvSpPr txBox="true"/>
          <p:nvPr/>
        </p:nvSpPr>
        <p:spPr>
          <a:xfrm rot="0">
            <a:off x="11676784" y="5105400"/>
            <a:ext cx="5743866" cy="663460"/>
          </a:xfrm>
          <a:prstGeom prst="rect">
            <a:avLst/>
          </a:prstGeom>
        </p:spPr>
        <p:txBody>
          <a:bodyPr anchor="t" rtlCol="false" tIns="0" lIns="0" bIns="0" rIns="0">
            <a:spAutoFit/>
          </a:bodyPr>
          <a:lstStyle/>
          <a:p>
            <a:pPr algn="ctr" marL="0" indent="0" lvl="0">
              <a:lnSpc>
                <a:spcPts val="5334"/>
              </a:lnSpc>
            </a:pPr>
            <a:r>
              <a:rPr lang="en-US" sz="4103">
                <a:solidFill>
                  <a:srgbClr val="000000"/>
                </a:solidFill>
                <a:latin typeface="Canva Sans"/>
                <a:ea typeface="Canva Sans"/>
                <a:cs typeface="Canva Sans"/>
                <a:sym typeface="Canva Sans"/>
              </a:rPr>
              <a:t>Ghali Al daffa</a:t>
            </a:r>
          </a:p>
        </p:txBody>
      </p:sp>
      <p:sp>
        <p:nvSpPr>
          <p:cNvPr name="Freeform 15" id="15"/>
          <p:cNvSpPr/>
          <p:nvPr/>
        </p:nvSpPr>
        <p:spPr>
          <a:xfrm flipH="false" flipV="false" rot="0">
            <a:off x="6958688" y="7019691"/>
            <a:ext cx="4847311" cy="2361962"/>
          </a:xfrm>
          <a:custGeom>
            <a:avLst/>
            <a:gdLst/>
            <a:ahLst/>
            <a:cxnLst/>
            <a:rect r="r" b="b" t="t" l="l"/>
            <a:pathLst>
              <a:path h="2361962" w="4847311">
                <a:moveTo>
                  <a:pt x="0" y="0"/>
                </a:moveTo>
                <a:lnTo>
                  <a:pt x="4847310" y="0"/>
                </a:lnTo>
                <a:lnTo>
                  <a:pt x="4847310" y="2361963"/>
                </a:lnTo>
                <a:lnTo>
                  <a:pt x="0" y="23619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8738848" y="6362365"/>
            <a:ext cx="810304" cy="1314652"/>
          </a:xfrm>
          <a:custGeom>
            <a:avLst/>
            <a:gdLst/>
            <a:ahLst/>
            <a:cxnLst/>
            <a:rect r="r" b="b" t="t" l="l"/>
            <a:pathLst>
              <a:path h="1314652" w="810304">
                <a:moveTo>
                  <a:pt x="0" y="0"/>
                </a:moveTo>
                <a:lnTo>
                  <a:pt x="810304" y="0"/>
                </a:lnTo>
                <a:lnTo>
                  <a:pt x="810304" y="1314653"/>
                </a:lnTo>
                <a:lnTo>
                  <a:pt x="0" y="13146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7093410" y="7800182"/>
            <a:ext cx="4712588" cy="753356"/>
          </a:xfrm>
          <a:prstGeom prst="rect">
            <a:avLst/>
          </a:prstGeom>
        </p:spPr>
        <p:txBody>
          <a:bodyPr anchor="t" rtlCol="false" tIns="0" lIns="0" bIns="0" rIns="0">
            <a:spAutoFit/>
          </a:bodyPr>
          <a:lstStyle/>
          <a:p>
            <a:pPr algn="ctr" marL="0" indent="0" lvl="0">
              <a:lnSpc>
                <a:spcPts val="6020"/>
              </a:lnSpc>
            </a:pPr>
            <a:r>
              <a:rPr lang="en-US" sz="4630">
                <a:solidFill>
                  <a:srgbClr val="000000"/>
                </a:solidFill>
                <a:latin typeface="Canva Sans"/>
                <a:ea typeface="Canva Sans"/>
                <a:cs typeface="Canva Sans"/>
                <a:sym typeface="Canva Sans"/>
              </a:rPr>
              <a:t>I Kadek A</a:t>
            </a:r>
          </a:p>
        </p:txBody>
      </p:sp>
    </p:spTree>
  </p:cSld>
  <p:clrMapOvr>
    <a:masterClrMapping/>
  </p:clrMapOvr>
  <p:transition spd="fast">
    <p:cover dir="d"/>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0">
            <a:off x="14918748" y="-626708"/>
            <a:ext cx="4681103" cy="3310817"/>
          </a:xfrm>
          <a:custGeom>
            <a:avLst/>
            <a:gdLst/>
            <a:ahLst/>
            <a:cxnLst/>
            <a:rect r="r" b="b" t="t" l="l"/>
            <a:pathLst>
              <a:path h="3310817" w="4681103">
                <a:moveTo>
                  <a:pt x="0" y="0"/>
                </a:moveTo>
                <a:lnTo>
                  <a:pt x="4681104" y="0"/>
                </a:lnTo>
                <a:lnTo>
                  <a:pt x="4681104" y="3310816"/>
                </a:lnTo>
                <a:lnTo>
                  <a:pt x="0" y="331081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303306" y="2881083"/>
            <a:ext cx="7978637" cy="9386632"/>
          </a:xfrm>
          <a:custGeom>
            <a:avLst/>
            <a:gdLst/>
            <a:ahLst/>
            <a:cxnLst/>
            <a:rect r="r" b="b" t="t" l="l"/>
            <a:pathLst>
              <a:path h="9386632" w="7978637">
                <a:moveTo>
                  <a:pt x="7978637" y="0"/>
                </a:moveTo>
                <a:lnTo>
                  <a:pt x="0" y="0"/>
                </a:lnTo>
                <a:lnTo>
                  <a:pt x="0" y="9386632"/>
                </a:lnTo>
                <a:lnTo>
                  <a:pt x="7978637" y="9386632"/>
                </a:lnTo>
                <a:lnTo>
                  <a:pt x="7978637"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2910164" y="656387"/>
            <a:ext cx="9393142" cy="7653268"/>
            <a:chOff x="0" y="0"/>
            <a:chExt cx="2473914" cy="2015676"/>
          </a:xfrm>
        </p:grpSpPr>
        <p:sp>
          <p:nvSpPr>
            <p:cNvPr name="Freeform 6" id="6"/>
            <p:cNvSpPr/>
            <p:nvPr/>
          </p:nvSpPr>
          <p:spPr>
            <a:xfrm flipH="false" flipV="false" rot="0">
              <a:off x="0" y="0"/>
              <a:ext cx="2473914" cy="2015676"/>
            </a:xfrm>
            <a:custGeom>
              <a:avLst/>
              <a:gdLst/>
              <a:ahLst/>
              <a:cxnLst/>
              <a:rect r="r" b="b" t="t" l="l"/>
              <a:pathLst>
                <a:path h="2015676" w="2473914">
                  <a:moveTo>
                    <a:pt x="34617" y="0"/>
                  </a:moveTo>
                  <a:lnTo>
                    <a:pt x="2439297" y="0"/>
                  </a:lnTo>
                  <a:cubicBezTo>
                    <a:pt x="2458415" y="0"/>
                    <a:pt x="2473914" y="15498"/>
                    <a:pt x="2473914" y="34617"/>
                  </a:cubicBezTo>
                  <a:lnTo>
                    <a:pt x="2473914" y="1981059"/>
                  </a:lnTo>
                  <a:cubicBezTo>
                    <a:pt x="2473914" y="2000177"/>
                    <a:pt x="2458415" y="2015676"/>
                    <a:pt x="2439297" y="2015676"/>
                  </a:cubicBezTo>
                  <a:lnTo>
                    <a:pt x="34617" y="2015676"/>
                  </a:lnTo>
                  <a:cubicBezTo>
                    <a:pt x="15498" y="2015676"/>
                    <a:pt x="0" y="2000177"/>
                    <a:pt x="0" y="1981059"/>
                  </a:cubicBezTo>
                  <a:lnTo>
                    <a:pt x="0" y="34617"/>
                  </a:lnTo>
                  <a:cubicBezTo>
                    <a:pt x="0" y="15498"/>
                    <a:pt x="15498" y="0"/>
                    <a:pt x="34617" y="0"/>
                  </a:cubicBezTo>
                  <a:close/>
                </a:path>
              </a:pathLst>
            </a:custGeom>
            <a:solidFill>
              <a:srgbClr val="FFCE32"/>
            </a:solidFill>
          </p:spPr>
        </p:sp>
        <p:sp>
          <p:nvSpPr>
            <p:cNvPr name="TextBox 7" id="7"/>
            <p:cNvSpPr txBox="true"/>
            <p:nvPr/>
          </p:nvSpPr>
          <p:spPr>
            <a:xfrm>
              <a:off x="0" y="-57150"/>
              <a:ext cx="2473914" cy="2072826"/>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2006686" y="-417226"/>
            <a:ext cx="5603193" cy="4900247"/>
          </a:xfrm>
          <a:custGeom>
            <a:avLst/>
            <a:gdLst/>
            <a:ahLst/>
            <a:cxnLst/>
            <a:rect r="r" b="b" t="t" l="l"/>
            <a:pathLst>
              <a:path h="4900247" w="5603193">
                <a:moveTo>
                  <a:pt x="5603193" y="0"/>
                </a:moveTo>
                <a:lnTo>
                  <a:pt x="0" y="0"/>
                </a:lnTo>
                <a:lnTo>
                  <a:pt x="0" y="4900247"/>
                </a:lnTo>
                <a:lnTo>
                  <a:pt x="5603193" y="4900247"/>
                </a:lnTo>
                <a:lnTo>
                  <a:pt x="560319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753695">
            <a:off x="12198717" y="543887"/>
            <a:ext cx="3629027" cy="4674391"/>
          </a:xfrm>
          <a:custGeom>
            <a:avLst/>
            <a:gdLst/>
            <a:ahLst/>
            <a:cxnLst/>
            <a:rect r="r" b="b" t="t" l="l"/>
            <a:pathLst>
              <a:path h="4674391" w="3629027">
                <a:moveTo>
                  <a:pt x="0" y="0"/>
                </a:moveTo>
                <a:lnTo>
                  <a:pt x="3629028" y="0"/>
                </a:lnTo>
                <a:lnTo>
                  <a:pt x="3629028" y="4674391"/>
                </a:lnTo>
                <a:lnTo>
                  <a:pt x="0" y="46743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3863207" y="865937"/>
            <a:ext cx="7599867" cy="2539999"/>
          </a:xfrm>
          <a:prstGeom prst="rect">
            <a:avLst/>
          </a:prstGeom>
        </p:spPr>
        <p:txBody>
          <a:bodyPr anchor="t" rtlCol="false" tIns="0" lIns="0" bIns="0" rIns="0">
            <a:spAutoFit/>
          </a:bodyPr>
          <a:lstStyle/>
          <a:p>
            <a:pPr algn="ctr">
              <a:lnSpc>
                <a:spcPts val="9699"/>
              </a:lnSpc>
            </a:pPr>
            <a:r>
              <a:rPr lang="en-US" sz="9999">
                <a:solidFill>
                  <a:srgbClr val="000000"/>
                </a:solidFill>
                <a:latin typeface="BM Hanna"/>
                <a:ea typeface="BM Hanna"/>
                <a:cs typeface="BM Hanna"/>
                <a:sym typeface="BM Hanna"/>
              </a:rPr>
              <a:t>DEFINISI MEMORY</a:t>
            </a:r>
          </a:p>
        </p:txBody>
      </p:sp>
      <p:sp>
        <p:nvSpPr>
          <p:cNvPr name="TextBox 11" id="11"/>
          <p:cNvSpPr txBox="true"/>
          <p:nvPr/>
        </p:nvSpPr>
        <p:spPr>
          <a:xfrm rot="0">
            <a:off x="3217346" y="3441941"/>
            <a:ext cx="8891588" cy="1701559"/>
          </a:xfrm>
          <a:prstGeom prst="rect">
            <a:avLst/>
          </a:prstGeom>
        </p:spPr>
        <p:txBody>
          <a:bodyPr anchor="t" rtlCol="false" tIns="0" lIns="0" bIns="0" rIns="0">
            <a:spAutoFit/>
          </a:bodyPr>
          <a:lstStyle/>
          <a:p>
            <a:pPr algn="just">
              <a:lnSpc>
                <a:spcPts val="4634"/>
              </a:lnSpc>
            </a:pPr>
            <a:r>
              <a:rPr lang="en-US" sz="3089">
                <a:solidFill>
                  <a:srgbClr val="000000"/>
                </a:solidFill>
                <a:latin typeface="Canva Sans"/>
                <a:ea typeface="Canva Sans"/>
                <a:cs typeface="Canva Sans"/>
                <a:sym typeface="Canva Sans"/>
              </a:rPr>
              <a:t>Memori adalah salah satu tempat untuk menyimpan data secara permanen maupun sementara. </a:t>
            </a:r>
          </a:p>
        </p:txBody>
      </p:sp>
      <p:sp>
        <p:nvSpPr>
          <p:cNvPr name="TextBox 12" id="12"/>
          <p:cNvSpPr txBox="true"/>
          <p:nvPr/>
        </p:nvSpPr>
        <p:spPr>
          <a:xfrm rot="0">
            <a:off x="3217346" y="5181600"/>
            <a:ext cx="8891588" cy="2282584"/>
          </a:xfrm>
          <a:prstGeom prst="rect">
            <a:avLst/>
          </a:prstGeom>
        </p:spPr>
        <p:txBody>
          <a:bodyPr anchor="t" rtlCol="false" tIns="0" lIns="0" bIns="0" rIns="0">
            <a:spAutoFit/>
          </a:bodyPr>
          <a:lstStyle/>
          <a:p>
            <a:pPr algn="just">
              <a:lnSpc>
                <a:spcPts val="4634"/>
              </a:lnSpc>
            </a:pPr>
            <a:r>
              <a:rPr lang="en-US" sz="3089">
                <a:solidFill>
                  <a:srgbClr val="000000"/>
                </a:solidFill>
                <a:latin typeface="Canva Sans"/>
                <a:ea typeface="Canva Sans"/>
                <a:cs typeface="Canva Sans"/>
                <a:sym typeface="Canva Sans"/>
              </a:rPr>
              <a:t>dan memiliki dua sifat yaitu Non volatile dan volatile</a:t>
            </a:r>
          </a:p>
          <a:p>
            <a:pPr algn="just">
              <a:lnSpc>
                <a:spcPts val="4634"/>
              </a:lnSpc>
            </a:pPr>
            <a:r>
              <a:rPr lang="en-US" sz="3089">
                <a:solidFill>
                  <a:srgbClr val="000000"/>
                </a:solidFill>
                <a:latin typeface="Canva Sans"/>
                <a:ea typeface="Canva Sans"/>
                <a:cs typeface="Canva Sans"/>
                <a:sym typeface="Canva Sans"/>
              </a:rPr>
              <a:t>Non volatile : Permanen</a:t>
            </a:r>
          </a:p>
          <a:p>
            <a:pPr algn="just">
              <a:lnSpc>
                <a:spcPts val="4634"/>
              </a:lnSpc>
            </a:pPr>
            <a:r>
              <a:rPr lang="en-US" sz="3089">
                <a:solidFill>
                  <a:srgbClr val="000000"/>
                </a:solidFill>
                <a:latin typeface="Canva Sans"/>
                <a:ea typeface="Canva Sans"/>
                <a:cs typeface="Canva Sans"/>
                <a:sym typeface="Canva Sans"/>
              </a:rPr>
              <a:t>Volatile : Tidak permanen</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grpSp>
        <p:nvGrpSpPr>
          <p:cNvPr name="Group 3" id="3"/>
          <p:cNvGrpSpPr/>
          <p:nvPr/>
        </p:nvGrpSpPr>
        <p:grpSpPr>
          <a:xfrm rot="0">
            <a:off x="6724366" y="0"/>
            <a:ext cx="10534934" cy="8229600"/>
            <a:chOff x="0" y="0"/>
            <a:chExt cx="2774633" cy="2167467"/>
          </a:xfrm>
        </p:grpSpPr>
        <p:sp>
          <p:nvSpPr>
            <p:cNvPr name="Freeform 4" id="4"/>
            <p:cNvSpPr/>
            <p:nvPr/>
          </p:nvSpPr>
          <p:spPr>
            <a:xfrm flipH="false" flipV="false" rot="0">
              <a:off x="0" y="0"/>
              <a:ext cx="2774633" cy="2167467"/>
            </a:xfrm>
            <a:custGeom>
              <a:avLst/>
              <a:gdLst/>
              <a:ahLst/>
              <a:cxnLst/>
              <a:rect r="r" b="b" t="t" l="l"/>
              <a:pathLst>
                <a:path h="2167467" w="2774633">
                  <a:moveTo>
                    <a:pt x="30865" y="0"/>
                  </a:moveTo>
                  <a:lnTo>
                    <a:pt x="2743768" y="0"/>
                  </a:lnTo>
                  <a:cubicBezTo>
                    <a:pt x="2751954" y="0"/>
                    <a:pt x="2759804" y="3252"/>
                    <a:pt x="2765593" y="9040"/>
                  </a:cubicBezTo>
                  <a:cubicBezTo>
                    <a:pt x="2771381" y="14828"/>
                    <a:pt x="2774633" y="22679"/>
                    <a:pt x="2774633" y="30865"/>
                  </a:cubicBezTo>
                  <a:lnTo>
                    <a:pt x="2774633" y="2136602"/>
                  </a:lnTo>
                  <a:cubicBezTo>
                    <a:pt x="2774633" y="2144788"/>
                    <a:pt x="2771381" y="2152638"/>
                    <a:pt x="2765593" y="2158427"/>
                  </a:cubicBezTo>
                  <a:cubicBezTo>
                    <a:pt x="2759804" y="2164215"/>
                    <a:pt x="2751954" y="2167467"/>
                    <a:pt x="2743768" y="2167467"/>
                  </a:cubicBezTo>
                  <a:lnTo>
                    <a:pt x="30865" y="2167467"/>
                  </a:lnTo>
                  <a:cubicBezTo>
                    <a:pt x="22679" y="2167467"/>
                    <a:pt x="14828" y="2164215"/>
                    <a:pt x="9040" y="2158427"/>
                  </a:cubicBezTo>
                  <a:cubicBezTo>
                    <a:pt x="3252" y="2152638"/>
                    <a:pt x="0" y="2144788"/>
                    <a:pt x="0" y="2136602"/>
                  </a:cubicBezTo>
                  <a:lnTo>
                    <a:pt x="0" y="30865"/>
                  </a:lnTo>
                  <a:cubicBezTo>
                    <a:pt x="0" y="22679"/>
                    <a:pt x="3252" y="14828"/>
                    <a:pt x="9040" y="9040"/>
                  </a:cubicBezTo>
                  <a:cubicBezTo>
                    <a:pt x="14828" y="3252"/>
                    <a:pt x="22679" y="0"/>
                    <a:pt x="30865" y="0"/>
                  </a:cubicBezTo>
                  <a:close/>
                </a:path>
              </a:pathLst>
            </a:custGeom>
            <a:solidFill>
              <a:srgbClr val="FFCE32"/>
            </a:solidFill>
          </p:spPr>
        </p:sp>
        <p:sp>
          <p:nvSpPr>
            <p:cNvPr name="TextBox 5" id="5"/>
            <p:cNvSpPr txBox="true"/>
            <p:nvPr/>
          </p:nvSpPr>
          <p:spPr>
            <a:xfrm>
              <a:off x="0" y="-57150"/>
              <a:ext cx="2774633" cy="2224617"/>
            </a:xfrm>
            <a:prstGeom prst="rect">
              <a:avLst/>
            </a:prstGeom>
          </p:spPr>
          <p:txBody>
            <a:bodyPr anchor="ctr" rtlCol="false" tIns="50800" lIns="50800" bIns="50800" rIns="50800"/>
            <a:lstStyle/>
            <a:p>
              <a:pPr algn="ctr">
                <a:lnSpc>
                  <a:spcPts val="3499"/>
                </a:lnSpc>
              </a:pPr>
            </a:p>
          </p:txBody>
        </p:sp>
      </p:grpSp>
      <p:sp>
        <p:nvSpPr>
          <p:cNvPr name="Freeform 6" id="6"/>
          <p:cNvSpPr/>
          <p:nvPr/>
        </p:nvSpPr>
        <p:spPr>
          <a:xfrm flipH="false" flipV="false" rot="0">
            <a:off x="15164208" y="6808438"/>
            <a:ext cx="2332400" cy="2039789"/>
          </a:xfrm>
          <a:custGeom>
            <a:avLst/>
            <a:gdLst/>
            <a:ahLst/>
            <a:cxnLst/>
            <a:rect r="r" b="b" t="t" l="l"/>
            <a:pathLst>
              <a:path h="2039789" w="2332400">
                <a:moveTo>
                  <a:pt x="0" y="0"/>
                </a:moveTo>
                <a:lnTo>
                  <a:pt x="2332400" y="0"/>
                </a:lnTo>
                <a:lnTo>
                  <a:pt x="2332400" y="2039789"/>
                </a:lnTo>
                <a:lnTo>
                  <a:pt x="0" y="20397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45728" y="3086100"/>
            <a:ext cx="8002332" cy="8046221"/>
          </a:xfrm>
          <a:custGeom>
            <a:avLst/>
            <a:gdLst/>
            <a:ahLst/>
            <a:cxnLst/>
            <a:rect r="r" b="b" t="t" l="l"/>
            <a:pathLst>
              <a:path h="8046221" w="8002332">
                <a:moveTo>
                  <a:pt x="0" y="0"/>
                </a:moveTo>
                <a:lnTo>
                  <a:pt x="8002332" y="0"/>
                </a:lnTo>
                <a:lnTo>
                  <a:pt x="8002332" y="8046221"/>
                </a:lnTo>
                <a:lnTo>
                  <a:pt x="0" y="80462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991833" y="0"/>
            <a:ext cx="2247684" cy="2372795"/>
          </a:xfrm>
          <a:custGeom>
            <a:avLst/>
            <a:gdLst/>
            <a:ahLst/>
            <a:cxnLst/>
            <a:rect r="r" b="b" t="t" l="l"/>
            <a:pathLst>
              <a:path h="2372795" w="2247684">
                <a:moveTo>
                  <a:pt x="0" y="0"/>
                </a:moveTo>
                <a:lnTo>
                  <a:pt x="2247684" y="0"/>
                </a:lnTo>
                <a:lnTo>
                  <a:pt x="2247684" y="2372795"/>
                </a:lnTo>
                <a:lnTo>
                  <a:pt x="0" y="23727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464954" y="6790827"/>
            <a:ext cx="4198776" cy="4114800"/>
          </a:xfrm>
          <a:custGeom>
            <a:avLst/>
            <a:gdLst/>
            <a:ahLst/>
            <a:cxnLst/>
            <a:rect r="r" b="b" t="t" l="l"/>
            <a:pathLst>
              <a:path h="4114800" w="4198776">
                <a:moveTo>
                  <a:pt x="0" y="0"/>
                </a:moveTo>
                <a:lnTo>
                  <a:pt x="4198775" y="0"/>
                </a:lnTo>
                <a:lnTo>
                  <a:pt x="4198775"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6724366" y="209550"/>
            <a:ext cx="7599867" cy="2539999"/>
          </a:xfrm>
          <a:prstGeom prst="rect">
            <a:avLst/>
          </a:prstGeom>
        </p:spPr>
        <p:txBody>
          <a:bodyPr anchor="t" rtlCol="false" tIns="0" lIns="0" bIns="0" rIns="0">
            <a:spAutoFit/>
          </a:bodyPr>
          <a:lstStyle/>
          <a:p>
            <a:pPr algn="l">
              <a:lnSpc>
                <a:spcPts val="9699"/>
              </a:lnSpc>
            </a:pPr>
            <a:r>
              <a:rPr lang="en-US" sz="9999">
                <a:solidFill>
                  <a:srgbClr val="000000"/>
                </a:solidFill>
                <a:latin typeface="BM Hanna"/>
                <a:ea typeface="BM Hanna"/>
                <a:cs typeface="BM Hanna"/>
                <a:sym typeface="BM Hanna"/>
              </a:rPr>
              <a:t>LEVEL MEMORY</a:t>
            </a:r>
          </a:p>
        </p:txBody>
      </p:sp>
      <p:sp>
        <p:nvSpPr>
          <p:cNvPr name="TextBox 11" id="11"/>
          <p:cNvSpPr txBox="true"/>
          <p:nvPr/>
        </p:nvSpPr>
        <p:spPr>
          <a:xfrm rot="0">
            <a:off x="7564342" y="4064000"/>
            <a:ext cx="7599867" cy="1085851"/>
          </a:xfrm>
          <a:prstGeom prst="rect">
            <a:avLst/>
          </a:prstGeom>
        </p:spPr>
        <p:txBody>
          <a:bodyPr anchor="t" rtlCol="false" tIns="0" lIns="0" bIns="0" rIns="0">
            <a:spAutoFit/>
          </a:bodyPr>
          <a:lstStyle/>
          <a:p>
            <a:pPr algn="just">
              <a:lnSpc>
                <a:spcPts val="4499"/>
              </a:lnSpc>
            </a:pPr>
            <a:r>
              <a:rPr lang="en-US" sz="2999" i="true">
                <a:solidFill>
                  <a:srgbClr val="000000"/>
                </a:solidFill>
                <a:latin typeface="Canva Sans Italics"/>
                <a:ea typeface="Canva Sans Italics"/>
                <a:cs typeface="Canva Sans Italics"/>
                <a:sym typeface="Canva Sans Italics"/>
              </a:rPr>
              <a:t> </a:t>
            </a:r>
            <a:r>
              <a:rPr lang="en-US" b="true" sz="2999" i="true">
                <a:solidFill>
                  <a:srgbClr val="000000"/>
                </a:solidFill>
                <a:latin typeface="Canva Sans Bold Italics"/>
                <a:ea typeface="Canva Sans Bold Italics"/>
                <a:cs typeface="Canva Sans Bold Italics"/>
                <a:sym typeface="Canva Sans Bold Italics"/>
              </a:rPr>
              <a:t>2</a:t>
            </a:r>
            <a:r>
              <a:rPr lang="en-US" sz="2999" i="true">
                <a:solidFill>
                  <a:srgbClr val="000000"/>
                </a:solidFill>
                <a:latin typeface="Canva Sans Italics"/>
                <a:ea typeface="Canva Sans Italics"/>
                <a:cs typeface="Canva Sans Italics"/>
                <a:sym typeface="Canva Sans Italics"/>
              </a:rPr>
              <a:t>. Primary Memory </a:t>
            </a:r>
            <a:r>
              <a:rPr lang="en-US" sz="2999">
                <a:solidFill>
                  <a:srgbClr val="000000"/>
                </a:solidFill>
                <a:latin typeface="Canva Sans"/>
                <a:ea typeface="Canva Sans"/>
                <a:cs typeface="Canva Sans"/>
                <a:sym typeface="Canva Sans"/>
              </a:rPr>
              <a:t>(</a:t>
            </a:r>
            <a:r>
              <a:rPr lang="en-US" sz="2999" i="true">
                <a:solidFill>
                  <a:srgbClr val="000000"/>
                </a:solidFill>
                <a:latin typeface="Canva Sans Italics"/>
                <a:ea typeface="Canva Sans Italics"/>
                <a:cs typeface="Canva Sans Italics"/>
                <a:sym typeface="Canva Sans Italics"/>
              </a:rPr>
              <a:t>Executable Memory</a:t>
            </a:r>
            <a:r>
              <a:rPr lang="en-US" sz="2999">
                <a:solidFill>
                  <a:srgbClr val="000000"/>
                </a:solidFill>
                <a:latin typeface="Canva Sans"/>
                <a:ea typeface="Canva Sans"/>
                <a:cs typeface="Canva Sans"/>
                <a:sym typeface="Canva Sans"/>
              </a:rPr>
              <a:t>), berada di level tengah. </a:t>
            </a:r>
          </a:p>
        </p:txBody>
      </p:sp>
      <p:sp>
        <p:nvSpPr>
          <p:cNvPr name="TextBox 12" id="12"/>
          <p:cNvSpPr txBox="true"/>
          <p:nvPr/>
        </p:nvSpPr>
        <p:spPr>
          <a:xfrm rot="0">
            <a:off x="7564342" y="5454650"/>
            <a:ext cx="7599867" cy="1085851"/>
          </a:xfrm>
          <a:prstGeom prst="rect">
            <a:avLst/>
          </a:prstGeom>
        </p:spPr>
        <p:txBody>
          <a:bodyPr anchor="t" rtlCol="false" tIns="0" lIns="0" bIns="0" rIns="0">
            <a:spAutoFit/>
          </a:bodyPr>
          <a:lstStyle/>
          <a:p>
            <a:pPr algn="just">
              <a:lnSpc>
                <a:spcPts val="4499"/>
              </a:lnSpc>
            </a:pPr>
            <a:r>
              <a:rPr lang="en-US" sz="2999">
                <a:solidFill>
                  <a:srgbClr val="000000"/>
                </a:solidFill>
                <a:latin typeface="Canva Sans"/>
                <a:ea typeface="Canva Sans"/>
                <a:cs typeface="Canva Sans"/>
                <a:sym typeface="Canva Sans"/>
              </a:rPr>
              <a:t>     </a:t>
            </a:r>
            <a:r>
              <a:rPr lang="en-US" b="true" sz="2999">
                <a:solidFill>
                  <a:srgbClr val="000000"/>
                </a:solidFill>
                <a:latin typeface="Canva Sans Bold"/>
                <a:ea typeface="Canva Sans Bold"/>
                <a:cs typeface="Canva Sans Bold"/>
                <a:sym typeface="Canva Sans Bold"/>
              </a:rPr>
              <a:t> 3</a:t>
            </a:r>
            <a:r>
              <a:rPr lang="en-US" sz="2999">
                <a:solidFill>
                  <a:srgbClr val="000000"/>
                </a:solidFill>
                <a:latin typeface="Canva Sans"/>
                <a:ea typeface="Canva Sans"/>
                <a:cs typeface="Canva Sans"/>
                <a:sym typeface="Canva Sans"/>
              </a:rPr>
              <a:t>.   Secondary Memory berada di level   bawah. </a:t>
            </a:r>
          </a:p>
        </p:txBody>
      </p:sp>
      <p:sp>
        <p:nvSpPr>
          <p:cNvPr name="TextBox 13" id="13"/>
          <p:cNvSpPr txBox="true"/>
          <p:nvPr/>
        </p:nvSpPr>
        <p:spPr>
          <a:xfrm rot="0">
            <a:off x="7564342" y="2675472"/>
            <a:ext cx="7599867" cy="1085851"/>
          </a:xfrm>
          <a:prstGeom prst="rect">
            <a:avLst/>
          </a:prstGeom>
        </p:spPr>
        <p:txBody>
          <a:bodyPr anchor="t" rtlCol="false" tIns="0" lIns="0" bIns="0" rIns="0">
            <a:spAutoFit/>
          </a:bodyPr>
          <a:lstStyle/>
          <a:p>
            <a:pPr algn="just" marL="647697" indent="-323848" lvl="1">
              <a:lnSpc>
                <a:spcPts val="4499"/>
              </a:lnSpc>
              <a:buAutoNum type="arabicPeriod" startAt="1"/>
            </a:pPr>
            <a:r>
              <a:rPr lang="en-US" sz="2999" i="true">
                <a:solidFill>
                  <a:srgbClr val="000000"/>
                </a:solidFill>
                <a:latin typeface="Canva Sans Italics"/>
                <a:ea typeface="Canva Sans Italics"/>
                <a:cs typeface="Canva Sans Italics"/>
                <a:sym typeface="Canva Sans Italics"/>
              </a:rPr>
              <a:t>Physical Register </a:t>
            </a:r>
            <a:r>
              <a:rPr lang="en-US" sz="2999">
                <a:solidFill>
                  <a:srgbClr val="000000"/>
                </a:solidFill>
                <a:latin typeface="Canva Sans"/>
                <a:ea typeface="Canva Sans"/>
                <a:cs typeface="Canva Sans"/>
                <a:sym typeface="Canva Sans"/>
              </a:rPr>
              <a:t>di CPU, berada di level teratas. Informasi yang berada</a:t>
            </a:r>
          </a:p>
        </p:txBody>
      </p:sp>
    </p:spTree>
  </p:cSld>
  <p:clrMapOvr>
    <a:masterClrMapping/>
  </p:clrMapOvr>
  <p:transition spd="slow">
    <p:push dir="r"/>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0">
            <a:off x="14230662" y="5938221"/>
            <a:ext cx="4545747" cy="4864126"/>
          </a:xfrm>
          <a:custGeom>
            <a:avLst/>
            <a:gdLst/>
            <a:ahLst/>
            <a:cxnLst/>
            <a:rect r="r" b="b" t="t" l="l"/>
            <a:pathLst>
              <a:path h="4864126" w="4545747">
                <a:moveTo>
                  <a:pt x="0" y="0"/>
                </a:moveTo>
                <a:lnTo>
                  <a:pt x="4545747" y="0"/>
                </a:lnTo>
                <a:lnTo>
                  <a:pt x="4545747" y="4864126"/>
                </a:lnTo>
                <a:lnTo>
                  <a:pt x="0" y="48641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67707">
            <a:off x="-1482129" y="-303062"/>
            <a:ext cx="3978551" cy="4438545"/>
          </a:xfrm>
          <a:custGeom>
            <a:avLst/>
            <a:gdLst/>
            <a:ahLst/>
            <a:cxnLst/>
            <a:rect r="r" b="b" t="t" l="l"/>
            <a:pathLst>
              <a:path h="4438545" w="3978551">
                <a:moveTo>
                  <a:pt x="0" y="0"/>
                </a:moveTo>
                <a:lnTo>
                  <a:pt x="3978550" y="0"/>
                </a:lnTo>
                <a:lnTo>
                  <a:pt x="3978550" y="4438546"/>
                </a:lnTo>
                <a:lnTo>
                  <a:pt x="0" y="44385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515924" y="-305796"/>
            <a:ext cx="5081512" cy="4444014"/>
          </a:xfrm>
          <a:custGeom>
            <a:avLst/>
            <a:gdLst/>
            <a:ahLst/>
            <a:cxnLst/>
            <a:rect r="r" b="b" t="t" l="l"/>
            <a:pathLst>
              <a:path h="4444014" w="5081512">
                <a:moveTo>
                  <a:pt x="0" y="0"/>
                </a:moveTo>
                <a:lnTo>
                  <a:pt x="5081512" y="0"/>
                </a:lnTo>
                <a:lnTo>
                  <a:pt x="5081512" y="4444014"/>
                </a:lnTo>
                <a:lnTo>
                  <a:pt x="0" y="44440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507146" y="272473"/>
            <a:ext cx="16591155" cy="751453"/>
          </a:xfrm>
          <a:prstGeom prst="rect">
            <a:avLst/>
          </a:prstGeom>
        </p:spPr>
        <p:txBody>
          <a:bodyPr anchor="t" rtlCol="false" tIns="0" lIns="0" bIns="0" rIns="0">
            <a:spAutoFit/>
          </a:bodyPr>
          <a:lstStyle/>
          <a:p>
            <a:pPr algn="ctr">
              <a:lnSpc>
                <a:spcPts val="5536"/>
              </a:lnSpc>
            </a:pPr>
            <a:r>
              <a:rPr lang="en-US" sz="5707">
                <a:solidFill>
                  <a:srgbClr val="FFFFFF"/>
                </a:solidFill>
                <a:latin typeface="BM Hanna"/>
                <a:ea typeface="BM Hanna"/>
                <a:cs typeface="BM Hanna"/>
                <a:sym typeface="BM Hanna"/>
              </a:rPr>
              <a:t>FUNGSI UTAMA DARI MEMORY</a:t>
            </a:r>
          </a:p>
        </p:txBody>
      </p:sp>
      <p:sp>
        <p:nvSpPr>
          <p:cNvPr name="Freeform 7" id="7"/>
          <p:cNvSpPr/>
          <p:nvPr/>
        </p:nvSpPr>
        <p:spPr>
          <a:xfrm flipH="false" flipV="false" rot="0">
            <a:off x="1832477" y="1730217"/>
            <a:ext cx="6909487" cy="3366805"/>
          </a:xfrm>
          <a:custGeom>
            <a:avLst/>
            <a:gdLst/>
            <a:ahLst/>
            <a:cxnLst/>
            <a:rect r="r" b="b" t="t" l="l"/>
            <a:pathLst>
              <a:path h="3366805" w="6909487">
                <a:moveTo>
                  <a:pt x="0" y="0"/>
                </a:moveTo>
                <a:lnTo>
                  <a:pt x="6909488" y="0"/>
                </a:lnTo>
                <a:lnTo>
                  <a:pt x="6909488" y="3366805"/>
                </a:lnTo>
                <a:lnTo>
                  <a:pt x="0" y="33668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9144000" y="1681252"/>
            <a:ext cx="6909487" cy="3366805"/>
          </a:xfrm>
          <a:custGeom>
            <a:avLst/>
            <a:gdLst/>
            <a:ahLst/>
            <a:cxnLst/>
            <a:rect r="r" b="b" t="t" l="l"/>
            <a:pathLst>
              <a:path h="3366805" w="6909487">
                <a:moveTo>
                  <a:pt x="0" y="0"/>
                </a:moveTo>
                <a:lnTo>
                  <a:pt x="6909487" y="0"/>
                </a:lnTo>
                <a:lnTo>
                  <a:pt x="6909487" y="3366805"/>
                </a:lnTo>
                <a:lnTo>
                  <a:pt x="0" y="33668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2444725" y="2619848"/>
            <a:ext cx="5684992" cy="1942107"/>
          </a:xfrm>
          <a:prstGeom prst="rect">
            <a:avLst/>
          </a:prstGeom>
        </p:spPr>
        <p:txBody>
          <a:bodyPr anchor="t" rtlCol="false" tIns="0" lIns="0" bIns="0" rIns="0">
            <a:spAutoFit/>
          </a:bodyPr>
          <a:lstStyle/>
          <a:p>
            <a:pPr algn="ctr">
              <a:lnSpc>
                <a:spcPts val="3762"/>
              </a:lnSpc>
            </a:pPr>
            <a:r>
              <a:rPr lang="en-US" sz="3879">
                <a:solidFill>
                  <a:srgbClr val="000000"/>
                </a:solidFill>
                <a:latin typeface="BM Hanna"/>
                <a:ea typeface="BM Hanna"/>
                <a:cs typeface="BM Hanna"/>
                <a:sym typeface="BM Hanna"/>
              </a:rPr>
              <a:t>MENYIMPAN DATA DARI PERANTI MASUKAN SAMPAI DATA DIKIRIMKAN KE ALU</a:t>
            </a:r>
          </a:p>
        </p:txBody>
      </p:sp>
      <p:sp>
        <p:nvSpPr>
          <p:cNvPr name="Freeform 10" id="10"/>
          <p:cNvSpPr/>
          <p:nvPr/>
        </p:nvSpPr>
        <p:spPr>
          <a:xfrm flipH="false" flipV="false" rot="0">
            <a:off x="5287221" y="5501478"/>
            <a:ext cx="8374100" cy="4080471"/>
          </a:xfrm>
          <a:custGeom>
            <a:avLst/>
            <a:gdLst/>
            <a:ahLst/>
            <a:cxnLst/>
            <a:rect r="r" b="b" t="t" l="l"/>
            <a:pathLst>
              <a:path h="4080471" w="8374100">
                <a:moveTo>
                  <a:pt x="0" y="0"/>
                </a:moveTo>
                <a:lnTo>
                  <a:pt x="8374100" y="0"/>
                </a:lnTo>
                <a:lnTo>
                  <a:pt x="8374100" y="4080471"/>
                </a:lnTo>
                <a:lnTo>
                  <a:pt x="0" y="40804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6064445" y="6437358"/>
            <a:ext cx="6819652" cy="2284910"/>
          </a:xfrm>
          <a:prstGeom prst="rect">
            <a:avLst/>
          </a:prstGeom>
        </p:spPr>
        <p:txBody>
          <a:bodyPr anchor="t" rtlCol="false" tIns="0" lIns="0" bIns="0" rIns="0">
            <a:spAutoFit/>
          </a:bodyPr>
          <a:lstStyle/>
          <a:p>
            <a:pPr algn="ctr">
              <a:lnSpc>
                <a:spcPts val="3576"/>
              </a:lnSpc>
            </a:pPr>
            <a:r>
              <a:rPr lang="en-US" sz="3686">
                <a:solidFill>
                  <a:srgbClr val="000000"/>
                </a:solidFill>
                <a:latin typeface="BM Hanna"/>
                <a:ea typeface="BM Hanna"/>
                <a:cs typeface="BM Hanna"/>
                <a:sym typeface="BM Hanna"/>
              </a:rPr>
              <a:t>MENAMPUNG INSTRUKSI ATAUPUN PROGRAM DARI PERANTI MASUKAN ATAUPUN DARI PERANTI PENGINGAT SEKUNDER.</a:t>
            </a:r>
            <a:r>
              <a:rPr lang="en-US" sz="3686">
                <a:solidFill>
                  <a:srgbClr val="000000"/>
                </a:solidFill>
                <a:latin typeface="BM Hanna"/>
                <a:ea typeface="BM Hanna"/>
                <a:cs typeface="BM Hanna"/>
                <a:sym typeface="BM Hanna"/>
              </a:rPr>
              <a:t> </a:t>
            </a:r>
          </a:p>
        </p:txBody>
      </p:sp>
      <p:sp>
        <p:nvSpPr>
          <p:cNvPr name="TextBox 12" id="12"/>
          <p:cNvSpPr txBox="true"/>
          <p:nvPr/>
        </p:nvSpPr>
        <p:spPr>
          <a:xfrm rot="0">
            <a:off x="9757640" y="2532966"/>
            <a:ext cx="5732792" cy="1758626"/>
          </a:xfrm>
          <a:prstGeom prst="rect">
            <a:avLst/>
          </a:prstGeom>
        </p:spPr>
        <p:txBody>
          <a:bodyPr anchor="t" rtlCol="false" tIns="0" lIns="0" bIns="0" rIns="0">
            <a:spAutoFit/>
          </a:bodyPr>
          <a:lstStyle/>
          <a:p>
            <a:pPr algn="ctr">
              <a:lnSpc>
                <a:spcPts val="4541"/>
              </a:lnSpc>
            </a:pPr>
            <a:r>
              <a:rPr lang="en-US" sz="4682">
                <a:solidFill>
                  <a:srgbClr val="000000"/>
                </a:solidFill>
                <a:latin typeface="BM Hanna"/>
                <a:ea typeface="BM Hanna"/>
                <a:cs typeface="BM Hanna"/>
                <a:sym typeface="BM Hanna"/>
              </a:rPr>
              <a:t>MENYIMPAN DAYA HASIL PEMROSESAN ALU </a:t>
            </a:r>
          </a:p>
        </p:txBody>
      </p:sp>
      <p:sp>
        <p:nvSpPr>
          <p:cNvPr name="Freeform 13" id="13"/>
          <p:cNvSpPr/>
          <p:nvPr/>
        </p:nvSpPr>
        <p:spPr>
          <a:xfrm flipH="false" flipV="false" rot="0">
            <a:off x="335153" y="5501478"/>
            <a:ext cx="4952068" cy="4989489"/>
          </a:xfrm>
          <a:custGeom>
            <a:avLst/>
            <a:gdLst/>
            <a:ahLst/>
            <a:cxnLst/>
            <a:rect r="r" b="b" t="t" l="l"/>
            <a:pathLst>
              <a:path h="4989489" w="4952068">
                <a:moveTo>
                  <a:pt x="0" y="0"/>
                </a:moveTo>
                <a:lnTo>
                  <a:pt x="4952068" y="0"/>
                </a:lnTo>
                <a:lnTo>
                  <a:pt x="4952068" y="4989489"/>
                </a:lnTo>
                <a:lnTo>
                  <a:pt x="0" y="49894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7260113" y="1023926"/>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14515924" y="1028700"/>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12218884" y="5048057"/>
            <a:ext cx="810304" cy="1314652"/>
          </a:xfrm>
          <a:custGeom>
            <a:avLst/>
            <a:gdLst/>
            <a:ahLst/>
            <a:cxnLst/>
            <a:rect r="r" b="b" t="t" l="l"/>
            <a:pathLst>
              <a:path h="1314652" w="810304">
                <a:moveTo>
                  <a:pt x="0" y="0"/>
                </a:moveTo>
                <a:lnTo>
                  <a:pt x="810304" y="0"/>
                </a:lnTo>
                <a:lnTo>
                  <a:pt x="810304" y="1314652"/>
                </a:lnTo>
                <a:lnTo>
                  <a:pt x="0" y="13146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transition spd="slow">
    <p:push di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559059">
            <a:off x="16259959" y="1084922"/>
            <a:ext cx="4178322" cy="5381913"/>
          </a:xfrm>
          <a:custGeom>
            <a:avLst/>
            <a:gdLst/>
            <a:ahLst/>
            <a:cxnLst/>
            <a:rect r="r" b="b" t="t" l="l"/>
            <a:pathLst>
              <a:path h="5381913" w="4178322">
                <a:moveTo>
                  <a:pt x="0" y="0"/>
                </a:moveTo>
                <a:lnTo>
                  <a:pt x="4178321" y="0"/>
                </a:lnTo>
                <a:lnTo>
                  <a:pt x="4178321" y="5381914"/>
                </a:lnTo>
                <a:lnTo>
                  <a:pt x="0" y="53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05833" y="-780000"/>
            <a:ext cx="3951014" cy="2794445"/>
          </a:xfrm>
          <a:custGeom>
            <a:avLst/>
            <a:gdLst/>
            <a:ahLst/>
            <a:cxnLst/>
            <a:rect r="r" b="b" t="t" l="l"/>
            <a:pathLst>
              <a:path h="2794445" w="3951014">
                <a:moveTo>
                  <a:pt x="0" y="0"/>
                </a:moveTo>
                <a:lnTo>
                  <a:pt x="3951015" y="0"/>
                </a:lnTo>
                <a:lnTo>
                  <a:pt x="3951015" y="2794445"/>
                </a:lnTo>
                <a:lnTo>
                  <a:pt x="0" y="27944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236958" y="1426886"/>
            <a:ext cx="12614878" cy="5579677"/>
            <a:chOff x="0" y="0"/>
            <a:chExt cx="3322437" cy="1469545"/>
          </a:xfrm>
        </p:grpSpPr>
        <p:sp>
          <p:nvSpPr>
            <p:cNvPr name="Freeform 6" id="6"/>
            <p:cNvSpPr/>
            <p:nvPr/>
          </p:nvSpPr>
          <p:spPr>
            <a:xfrm flipH="false" flipV="false" rot="0">
              <a:off x="0" y="0"/>
              <a:ext cx="3322437" cy="1469545"/>
            </a:xfrm>
            <a:custGeom>
              <a:avLst/>
              <a:gdLst/>
              <a:ahLst/>
              <a:cxnLst/>
              <a:rect r="r" b="b" t="t" l="l"/>
              <a:pathLst>
                <a:path h="1469545" w="3322437">
                  <a:moveTo>
                    <a:pt x="25776" y="0"/>
                  </a:moveTo>
                  <a:lnTo>
                    <a:pt x="3296661" y="0"/>
                  </a:lnTo>
                  <a:cubicBezTo>
                    <a:pt x="3310897" y="0"/>
                    <a:pt x="3322437" y="11540"/>
                    <a:pt x="3322437" y="25776"/>
                  </a:cubicBezTo>
                  <a:lnTo>
                    <a:pt x="3322437" y="1443769"/>
                  </a:lnTo>
                  <a:cubicBezTo>
                    <a:pt x="3322437" y="1458004"/>
                    <a:pt x="3310897" y="1469545"/>
                    <a:pt x="3296661" y="1469545"/>
                  </a:cubicBezTo>
                  <a:lnTo>
                    <a:pt x="25776" y="1469545"/>
                  </a:lnTo>
                  <a:cubicBezTo>
                    <a:pt x="11540" y="1469545"/>
                    <a:pt x="0" y="1458004"/>
                    <a:pt x="0" y="1443769"/>
                  </a:cubicBezTo>
                  <a:lnTo>
                    <a:pt x="0" y="25776"/>
                  </a:lnTo>
                  <a:cubicBezTo>
                    <a:pt x="0" y="11540"/>
                    <a:pt x="11540" y="0"/>
                    <a:pt x="25776" y="0"/>
                  </a:cubicBezTo>
                  <a:close/>
                </a:path>
              </a:pathLst>
            </a:custGeom>
            <a:solidFill>
              <a:srgbClr val="FFCE32"/>
            </a:solidFill>
          </p:spPr>
        </p:sp>
        <p:sp>
          <p:nvSpPr>
            <p:cNvPr name="TextBox 7" id="7"/>
            <p:cNvSpPr txBox="true"/>
            <p:nvPr/>
          </p:nvSpPr>
          <p:spPr>
            <a:xfrm>
              <a:off x="0" y="-66675"/>
              <a:ext cx="3322437" cy="1536220"/>
            </a:xfrm>
            <a:prstGeom prst="rect">
              <a:avLst/>
            </a:prstGeom>
          </p:spPr>
          <p:txBody>
            <a:bodyPr anchor="ctr" rtlCol="false" tIns="50800" lIns="50800" bIns="50800" rIns="50800"/>
            <a:lstStyle/>
            <a:p>
              <a:pPr algn="ctr">
                <a:lnSpc>
                  <a:spcPts val="4479"/>
                </a:lnSpc>
              </a:pPr>
              <a:r>
                <a:rPr lang="en-US" sz="3199">
                  <a:solidFill>
                    <a:srgbClr val="000000"/>
                  </a:solidFill>
                  <a:latin typeface="BM Hanna"/>
                  <a:ea typeface="BM Hanna"/>
                  <a:cs typeface="BM Hanna"/>
                  <a:sym typeface="BM Hanna"/>
                </a:rPr>
                <a:t>TIPE MEMORI JENIS INI MENDAPATKAN HAK KHUSUS UNTUK DAPAT DIAKSES SECARA LANGUSNG OLEH PROSESOR.</a:t>
              </a:r>
              <a:r>
                <a:rPr lang="en-US" sz="3199">
                  <a:solidFill>
                    <a:srgbClr val="000000"/>
                  </a:solidFill>
                  <a:latin typeface="BM Hanna"/>
                  <a:ea typeface="BM Hanna"/>
                  <a:cs typeface="BM Hanna"/>
                  <a:sym typeface="BM Hanna"/>
                </a:rPr>
                <a:t> </a:t>
              </a:r>
            </a:p>
            <a:p>
              <a:pPr algn="ctr">
                <a:lnSpc>
                  <a:spcPts val="4339"/>
                </a:lnSpc>
              </a:pPr>
              <a:r>
                <a:rPr lang="en-US" sz="3099">
                  <a:solidFill>
                    <a:srgbClr val="000000"/>
                  </a:solidFill>
                  <a:latin typeface="BM Hanna"/>
                  <a:ea typeface="BM Hanna"/>
                  <a:cs typeface="BM Hanna"/>
                  <a:sym typeface="BM Hanna"/>
                </a:rPr>
                <a:t>Dalam penggunaannya, memori internal diakses secara langsung oleh prosesor.</a:t>
              </a:r>
              <a:r>
                <a:rPr lang="en-US" sz="3099">
                  <a:solidFill>
                    <a:srgbClr val="FFFFFF"/>
                  </a:solidFill>
                  <a:latin typeface="BM Hanna"/>
                  <a:ea typeface="BM Hanna"/>
                  <a:cs typeface="BM Hanna"/>
                  <a:sym typeface="BM Hanna"/>
                </a:rPr>
                <a:t> </a:t>
              </a:r>
            </a:p>
            <a:p>
              <a:pPr algn="ctr">
                <a:lnSpc>
                  <a:spcPts val="3499"/>
                </a:lnSpc>
              </a:pPr>
            </a:p>
          </p:txBody>
        </p:sp>
      </p:grpSp>
      <p:grpSp>
        <p:nvGrpSpPr>
          <p:cNvPr name="Group 8" id="8"/>
          <p:cNvGrpSpPr/>
          <p:nvPr/>
        </p:nvGrpSpPr>
        <p:grpSpPr>
          <a:xfrm rot="0">
            <a:off x="9144000" y="7315489"/>
            <a:ext cx="7656493" cy="2789839"/>
            <a:chOff x="0" y="0"/>
            <a:chExt cx="2016525" cy="734772"/>
          </a:xfrm>
        </p:grpSpPr>
        <p:sp>
          <p:nvSpPr>
            <p:cNvPr name="Freeform 9" id="9"/>
            <p:cNvSpPr/>
            <p:nvPr/>
          </p:nvSpPr>
          <p:spPr>
            <a:xfrm flipH="false" flipV="false" rot="0">
              <a:off x="0" y="0"/>
              <a:ext cx="2016525" cy="734772"/>
            </a:xfrm>
            <a:custGeom>
              <a:avLst/>
              <a:gdLst/>
              <a:ahLst/>
              <a:cxnLst/>
              <a:rect r="r" b="b" t="t" l="l"/>
              <a:pathLst>
                <a:path h="734772" w="2016525">
                  <a:moveTo>
                    <a:pt x="42469" y="0"/>
                  </a:moveTo>
                  <a:lnTo>
                    <a:pt x="1974056" y="0"/>
                  </a:lnTo>
                  <a:cubicBezTo>
                    <a:pt x="1997511" y="0"/>
                    <a:pt x="2016525" y="19014"/>
                    <a:pt x="2016525" y="42469"/>
                  </a:cubicBezTo>
                  <a:lnTo>
                    <a:pt x="2016525" y="692304"/>
                  </a:lnTo>
                  <a:cubicBezTo>
                    <a:pt x="2016525" y="703567"/>
                    <a:pt x="2012050" y="714369"/>
                    <a:pt x="2004086" y="722334"/>
                  </a:cubicBezTo>
                  <a:cubicBezTo>
                    <a:pt x="1996122" y="730298"/>
                    <a:pt x="1985320" y="734772"/>
                    <a:pt x="1974056" y="734772"/>
                  </a:cubicBezTo>
                  <a:lnTo>
                    <a:pt x="42469" y="734772"/>
                  </a:lnTo>
                  <a:cubicBezTo>
                    <a:pt x="31205" y="734772"/>
                    <a:pt x="20403" y="730298"/>
                    <a:pt x="12439" y="722334"/>
                  </a:cubicBezTo>
                  <a:cubicBezTo>
                    <a:pt x="4474" y="714369"/>
                    <a:pt x="0" y="703567"/>
                    <a:pt x="0" y="692304"/>
                  </a:cubicBezTo>
                  <a:lnTo>
                    <a:pt x="0" y="42469"/>
                  </a:lnTo>
                  <a:cubicBezTo>
                    <a:pt x="0" y="31205"/>
                    <a:pt x="4474" y="20403"/>
                    <a:pt x="12439" y="12439"/>
                  </a:cubicBezTo>
                  <a:cubicBezTo>
                    <a:pt x="20403" y="4474"/>
                    <a:pt x="31205" y="0"/>
                    <a:pt x="42469" y="0"/>
                  </a:cubicBezTo>
                  <a:close/>
                </a:path>
              </a:pathLst>
            </a:custGeom>
            <a:solidFill>
              <a:srgbClr val="FFCE32"/>
            </a:solidFill>
          </p:spPr>
        </p:sp>
        <p:sp>
          <p:nvSpPr>
            <p:cNvPr name="TextBox 10" id="10"/>
            <p:cNvSpPr txBox="true"/>
            <p:nvPr/>
          </p:nvSpPr>
          <p:spPr>
            <a:xfrm>
              <a:off x="0" y="-57150"/>
              <a:ext cx="2016525" cy="791922"/>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true" flipV="false" rot="-2700000">
            <a:off x="1070818" y="1409740"/>
            <a:ext cx="3348727" cy="2672893"/>
          </a:xfrm>
          <a:custGeom>
            <a:avLst/>
            <a:gdLst/>
            <a:ahLst/>
            <a:cxnLst/>
            <a:rect r="r" b="b" t="t" l="l"/>
            <a:pathLst>
              <a:path h="2672893" w="3348727">
                <a:moveTo>
                  <a:pt x="3348727" y="0"/>
                </a:moveTo>
                <a:lnTo>
                  <a:pt x="0" y="0"/>
                </a:lnTo>
                <a:lnTo>
                  <a:pt x="0" y="2672893"/>
                </a:lnTo>
                <a:lnTo>
                  <a:pt x="3348727" y="2672893"/>
                </a:lnTo>
                <a:lnTo>
                  <a:pt x="334872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9354683" y="7739944"/>
            <a:ext cx="6850335" cy="1798053"/>
          </a:xfrm>
          <a:prstGeom prst="rect">
            <a:avLst/>
          </a:prstGeom>
        </p:spPr>
        <p:txBody>
          <a:bodyPr anchor="t" rtlCol="false" tIns="0" lIns="0" bIns="0" rIns="0">
            <a:spAutoFit/>
          </a:bodyPr>
          <a:lstStyle/>
          <a:p>
            <a:pPr algn="just">
              <a:lnSpc>
                <a:spcPts val="7405"/>
              </a:lnSpc>
            </a:pPr>
            <a:r>
              <a:rPr lang="en-US" sz="4936">
                <a:solidFill>
                  <a:srgbClr val="000000"/>
                </a:solidFill>
                <a:latin typeface="Canva Sans"/>
                <a:ea typeface="Canva Sans"/>
                <a:cs typeface="Canva Sans"/>
                <a:sym typeface="Canva Sans"/>
              </a:rPr>
              <a:t>BERIKUT CARA AKSES </a:t>
            </a:r>
          </a:p>
          <a:p>
            <a:pPr algn="just">
              <a:lnSpc>
                <a:spcPts val="7405"/>
              </a:lnSpc>
            </a:pPr>
            <a:r>
              <a:rPr lang="en-US" sz="4936">
                <a:solidFill>
                  <a:srgbClr val="000000"/>
                </a:solidFill>
                <a:latin typeface="Canva Sans"/>
                <a:ea typeface="Canva Sans"/>
                <a:cs typeface="Canva Sans"/>
                <a:sym typeface="Canva Sans"/>
              </a:rPr>
              <a:t>MEMORY INTERNAL &gt;&gt;</a:t>
            </a:r>
          </a:p>
        </p:txBody>
      </p:sp>
      <p:sp>
        <p:nvSpPr>
          <p:cNvPr name="Freeform 13" id="13"/>
          <p:cNvSpPr/>
          <p:nvPr/>
        </p:nvSpPr>
        <p:spPr>
          <a:xfrm flipH="false" flipV="false" rot="0">
            <a:off x="-707231" y="6172200"/>
            <a:ext cx="3471862" cy="4114800"/>
          </a:xfrm>
          <a:custGeom>
            <a:avLst/>
            <a:gdLst/>
            <a:ahLst/>
            <a:cxnLst/>
            <a:rect r="r" b="b" t="t" l="l"/>
            <a:pathLst>
              <a:path h="4114800" w="3471862">
                <a:moveTo>
                  <a:pt x="0" y="0"/>
                </a:moveTo>
                <a:lnTo>
                  <a:pt x="3471862" y="0"/>
                </a:lnTo>
                <a:lnTo>
                  <a:pt x="347186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true" flipV="false" rot="0">
            <a:off x="14804774" y="7006563"/>
            <a:ext cx="3991436" cy="3407689"/>
          </a:xfrm>
          <a:custGeom>
            <a:avLst/>
            <a:gdLst/>
            <a:ahLst/>
            <a:cxnLst/>
            <a:rect r="r" b="b" t="t" l="l"/>
            <a:pathLst>
              <a:path h="3407689" w="3991436">
                <a:moveTo>
                  <a:pt x="3991437" y="0"/>
                </a:moveTo>
                <a:lnTo>
                  <a:pt x="0" y="0"/>
                </a:lnTo>
                <a:lnTo>
                  <a:pt x="0" y="3407689"/>
                </a:lnTo>
                <a:lnTo>
                  <a:pt x="3991437" y="3407689"/>
                </a:lnTo>
                <a:lnTo>
                  <a:pt x="3991437"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4170002" y="347356"/>
            <a:ext cx="2630491" cy="2776910"/>
          </a:xfrm>
          <a:custGeom>
            <a:avLst/>
            <a:gdLst/>
            <a:ahLst/>
            <a:cxnLst/>
            <a:rect r="r" b="b" t="t" l="l"/>
            <a:pathLst>
              <a:path h="2776910" w="2630491">
                <a:moveTo>
                  <a:pt x="0" y="0"/>
                </a:moveTo>
                <a:lnTo>
                  <a:pt x="2630491" y="0"/>
                </a:lnTo>
                <a:lnTo>
                  <a:pt x="2630491" y="2776910"/>
                </a:lnTo>
                <a:lnTo>
                  <a:pt x="0" y="277691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0">
            <a:off x="3444056" y="209550"/>
            <a:ext cx="14018644" cy="1311274"/>
          </a:xfrm>
          <a:prstGeom prst="rect">
            <a:avLst/>
          </a:prstGeom>
        </p:spPr>
        <p:txBody>
          <a:bodyPr anchor="t" rtlCol="false" tIns="0" lIns="0" bIns="0" rIns="0">
            <a:spAutoFit/>
          </a:bodyPr>
          <a:lstStyle/>
          <a:p>
            <a:pPr algn="l">
              <a:lnSpc>
                <a:spcPts val="9699"/>
              </a:lnSpc>
            </a:pPr>
            <a:r>
              <a:rPr lang="en-US" sz="9999">
                <a:solidFill>
                  <a:srgbClr val="FFFFFF"/>
                </a:solidFill>
                <a:latin typeface="BM Hanna"/>
                <a:ea typeface="BM Hanna"/>
                <a:cs typeface="BM Hanna"/>
                <a:sym typeface="BM Hanna"/>
              </a:rPr>
              <a:t>MEMORY INTERNAL</a:t>
            </a:r>
          </a:p>
        </p:txBody>
      </p:sp>
    </p:spTree>
  </p:cSld>
  <p:clrMapOvr>
    <a:masterClrMapping/>
  </p:clrMapOvr>
  <p:transition spd="slow">
    <p:push di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grpSp>
        <p:nvGrpSpPr>
          <p:cNvPr name="Group 3" id="3"/>
          <p:cNvGrpSpPr/>
          <p:nvPr/>
        </p:nvGrpSpPr>
        <p:grpSpPr>
          <a:xfrm rot="0">
            <a:off x="133389" y="258577"/>
            <a:ext cx="7618545" cy="2906574"/>
            <a:chOff x="0" y="0"/>
            <a:chExt cx="2006530" cy="765518"/>
          </a:xfrm>
        </p:grpSpPr>
        <p:sp>
          <p:nvSpPr>
            <p:cNvPr name="Freeform 4" id="4"/>
            <p:cNvSpPr/>
            <p:nvPr/>
          </p:nvSpPr>
          <p:spPr>
            <a:xfrm flipH="false" flipV="false" rot="0">
              <a:off x="0" y="0"/>
              <a:ext cx="2006530" cy="765518"/>
            </a:xfrm>
            <a:custGeom>
              <a:avLst/>
              <a:gdLst/>
              <a:ahLst/>
              <a:cxnLst/>
              <a:rect r="r" b="b" t="t" l="l"/>
              <a:pathLst>
                <a:path h="765518" w="2006530">
                  <a:moveTo>
                    <a:pt x="42680" y="0"/>
                  </a:moveTo>
                  <a:lnTo>
                    <a:pt x="1963850" y="0"/>
                  </a:lnTo>
                  <a:cubicBezTo>
                    <a:pt x="1975170" y="0"/>
                    <a:pt x="1986025" y="4497"/>
                    <a:pt x="1994029" y="12501"/>
                  </a:cubicBezTo>
                  <a:cubicBezTo>
                    <a:pt x="2002034" y="20505"/>
                    <a:pt x="2006530" y="31361"/>
                    <a:pt x="2006530" y="42680"/>
                  </a:cubicBezTo>
                  <a:lnTo>
                    <a:pt x="2006530" y="722837"/>
                  </a:lnTo>
                  <a:cubicBezTo>
                    <a:pt x="2006530" y="734157"/>
                    <a:pt x="2002034" y="745013"/>
                    <a:pt x="1994029" y="753017"/>
                  </a:cubicBezTo>
                  <a:cubicBezTo>
                    <a:pt x="1986025" y="761021"/>
                    <a:pt x="1975170" y="765518"/>
                    <a:pt x="1963850" y="765518"/>
                  </a:cubicBezTo>
                  <a:lnTo>
                    <a:pt x="42680" y="765518"/>
                  </a:lnTo>
                  <a:cubicBezTo>
                    <a:pt x="31361" y="765518"/>
                    <a:pt x="20505" y="761021"/>
                    <a:pt x="12501" y="753017"/>
                  </a:cubicBezTo>
                  <a:cubicBezTo>
                    <a:pt x="4497" y="745013"/>
                    <a:pt x="0" y="734157"/>
                    <a:pt x="0" y="722837"/>
                  </a:cubicBezTo>
                  <a:lnTo>
                    <a:pt x="0" y="42680"/>
                  </a:lnTo>
                  <a:cubicBezTo>
                    <a:pt x="0" y="31361"/>
                    <a:pt x="4497" y="20505"/>
                    <a:pt x="12501" y="12501"/>
                  </a:cubicBezTo>
                  <a:cubicBezTo>
                    <a:pt x="20505" y="4497"/>
                    <a:pt x="31361" y="0"/>
                    <a:pt x="42680" y="0"/>
                  </a:cubicBezTo>
                  <a:close/>
                </a:path>
              </a:pathLst>
            </a:custGeom>
            <a:solidFill>
              <a:srgbClr val="FFCE32"/>
            </a:solidFill>
          </p:spPr>
        </p:sp>
        <p:sp>
          <p:nvSpPr>
            <p:cNvPr name="TextBox 5" id="5"/>
            <p:cNvSpPr txBox="true"/>
            <p:nvPr/>
          </p:nvSpPr>
          <p:spPr>
            <a:xfrm>
              <a:off x="0" y="-57150"/>
              <a:ext cx="2006530" cy="822668"/>
            </a:xfrm>
            <a:prstGeom prst="rect">
              <a:avLst/>
            </a:prstGeom>
          </p:spPr>
          <p:txBody>
            <a:bodyPr anchor="ctr" rtlCol="false" tIns="50800" lIns="50800" bIns="50800" rIns="50800"/>
            <a:lstStyle/>
            <a:p>
              <a:pPr algn="ctr">
                <a:lnSpc>
                  <a:spcPts val="3499"/>
                </a:lnSpc>
              </a:pPr>
            </a:p>
          </p:txBody>
        </p:sp>
      </p:grpSp>
      <p:sp>
        <p:nvSpPr>
          <p:cNvPr name="TextBox 6" id="6"/>
          <p:cNvSpPr txBox="true"/>
          <p:nvPr/>
        </p:nvSpPr>
        <p:spPr>
          <a:xfrm rot="0">
            <a:off x="-475689" y="976766"/>
            <a:ext cx="8227623" cy="1992441"/>
          </a:xfrm>
          <a:prstGeom prst="rect">
            <a:avLst/>
          </a:prstGeom>
        </p:spPr>
        <p:txBody>
          <a:bodyPr anchor="t" rtlCol="false" tIns="0" lIns="0" bIns="0" rIns="0">
            <a:spAutoFit/>
          </a:bodyPr>
          <a:lstStyle/>
          <a:p>
            <a:pPr algn="just" marL="1702334" indent="-851167" lvl="1">
              <a:lnSpc>
                <a:spcPts val="7648"/>
              </a:lnSpc>
              <a:buAutoNum type="arabicPeriod" startAt="1"/>
            </a:pPr>
            <a:r>
              <a:rPr lang="en-US" sz="7884">
                <a:solidFill>
                  <a:srgbClr val="000000"/>
                </a:solidFill>
                <a:latin typeface="BM Hanna"/>
                <a:ea typeface="BM Hanna"/>
                <a:cs typeface="BM Hanna"/>
                <a:sym typeface="BM Hanna"/>
              </a:rPr>
              <a:t>SEQUINTIAL </a:t>
            </a:r>
          </a:p>
          <a:p>
            <a:pPr algn="just">
              <a:lnSpc>
                <a:spcPts val="7648"/>
              </a:lnSpc>
            </a:pPr>
            <a:r>
              <a:rPr lang="en-US" sz="7884">
                <a:solidFill>
                  <a:srgbClr val="000000"/>
                </a:solidFill>
                <a:latin typeface="BM Hanna"/>
                <a:ea typeface="BM Hanna"/>
                <a:cs typeface="BM Hanna"/>
                <a:sym typeface="BM Hanna"/>
              </a:rPr>
              <a:t>       </a:t>
            </a:r>
            <a:r>
              <a:rPr lang="en-US" sz="7884">
                <a:solidFill>
                  <a:srgbClr val="000000"/>
                </a:solidFill>
                <a:latin typeface="BM Hanna"/>
                <a:ea typeface="BM Hanna"/>
                <a:cs typeface="BM Hanna"/>
                <a:sym typeface="BM Hanna"/>
              </a:rPr>
              <a:t>ACCES</a:t>
            </a:r>
          </a:p>
        </p:txBody>
      </p:sp>
      <p:sp>
        <p:nvSpPr>
          <p:cNvPr name="Freeform 7" id="7"/>
          <p:cNvSpPr/>
          <p:nvPr/>
        </p:nvSpPr>
        <p:spPr>
          <a:xfrm flipH="true" flipV="false" rot="-726148">
            <a:off x="5497262" y="3452240"/>
            <a:ext cx="2431158" cy="1940506"/>
          </a:xfrm>
          <a:custGeom>
            <a:avLst/>
            <a:gdLst/>
            <a:ahLst/>
            <a:cxnLst/>
            <a:rect r="r" b="b" t="t" l="l"/>
            <a:pathLst>
              <a:path h="1940506" w="2431158">
                <a:moveTo>
                  <a:pt x="2431159" y="0"/>
                </a:moveTo>
                <a:lnTo>
                  <a:pt x="0" y="0"/>
                </a:lnTo>
                <a:lnTo>
                  <a:pt x="0" y="1940507"/>
                </a:lnTo>
                <a:lnTo>
                  <a:pt x="2431159" y="1940507"/>
                </a:lnTo>
                <a:lnTo>
                  <a:pt x="243115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7928421" y="-48483"/>
            <a:ext cx="2431158" cy="1940506"/>
          </a:xfrm>
          <a:custGeom>
            <a:avLst/>
            <a:gdLst/>
            <a:ahLst/>
            <a:cxnLst/>
            <a:rect r="r" b="b" t="t" l="l"/>
            <a:pathLst>
              <a:path h="1940506" w="2431158">
                <a:moveTo>
                  <a:pt x="0" y="0"/>
                </a:moveTo>
                <a:lnTo>
                  <a:pt x="2431158" y="0"/>
                </a:lnTo>
                <a:lnTo>
                  <a:pt x="2431158" y="1940507"/>
                </a:lnTo>
                <a:lnTo>
                  <a:pt x="0" y="19405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206386">
            <a:off x="-1075048" y="1803943"/>
            <a:ext cx="3532423" cy="3940837"/>
          </a:xfrm>
          <a:custGeom>
            <a:avLst/>
            <a:gdLst/>
            <a:ahLst/>
            <a:cxnLst/>
            <a:rect r="r" b="b" t="t" l="l"/>
            <a:pathLst>
              <a:path h="3940837" w="3532423">
                <a:moveTo>
                  <a:pt x="0" y="0"/>
                </a:moveTo>
                <a:lnTo>
                  <a:pt x="3532422" y="0"/>
                </a:lnTo>
                <a:lnTo>
                  <a:pt x="3532422" y="3940837"/>
                </a:lnTo>
                <a:lnTo>
                  <a:pt x="0" y="39408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8285344" y="1892024"/>
            <a:ext cx="7618545" cy="2906574"/>
            <a:chOff x="0" y="0"/>
            <a:chExt cx="2006530" cy="765518"/>
          </a:xfrm>
        </p:grpSpPr>
        <p:sp>
          <p:nvSpPr>
            <p:cNvPr name="Freeform 11" id="11"/>
            <p:cNvSpPr/>
            <p:nvPr/>
          </p:nvSpPr>
          <p:spPr>
            <a:xfrm flipH="false" flipV="false" rot="0">
              <a:off x="0" y="0"/>
              <a:ext cx="2006530" cy="765518"/>
            </a:xfrm>
            <a:custGeom>
              <a:avLst/>
              <a:gdLst/>
              <a:ahLst/>
              <a:cxnLst/>
              <a:rect r="r" b="b" t="t" l="l"/>
              <a:pathLst>
                <a:path h="765518" w="2006530">
                  <a:moveTo>
                    <a:pt x="42680" y="0"/>
                  </a:moveTo>
                  <a:lnTo>
                    <a:pt x="1963850" y="0"/>
                  </a:lnTo>
                  <a:cubicBezTo>
                    <a:pt x="1975170" y="0"/>
                    <a:pt x="1986025" y="4497"/>
                    <a:pt x="1994029" y="12501"/>
                  </a:cubicBezTo>
                  <a:cubicBezTo>
                    <a:pt x="2002034" y="20505"/>
                    <a:pt x="2006530" y="31361"/>
                    <a:pt x="2006530" y="42680"/>
                  </a:cubicBezTo>
                  <a:lnTo>
                    <a:pt x="2006530" y="722837"/>
                  </a:lnTo>
                  <a:cubicBezTo>
                    <a:pt x="2006530" y="734157"/>
                    <a:pt x="2002034" y="745013"/>
                    <a:pt x="1994029" y="753017"/>
                  </a:cubicBezTo>
                  <a:cubicBezTo>
                    <a:pt x="1986025" y="761021"/>
                    <a:pt x="1975170" y="765518"/>
                    <a:pt x="1963850" y="765518"/>
                  </a:cubicBezTo>
                  <a:lnTo>
                    <a:pt x="42680" y="765518"/>
                  </a:lnTo>
                  <a:cubicBezTo>
                    <a:pt x="31361" y="765518"/>
                    <a:pt x="20505" y="761021"/>
                    <a:pt x="12501" y="753017"/>
                  </a:cubicBezTo>
                  <a:cubicBezTo>
                    <a:pt x="4497" y="745013"/>
                    <a:pt x="0" y="734157"/>
                    <a:pt x="0" y="722837"/>
                  </a:cubicBezTo>
                  <a:lnTo>
                    <a:pt x="0" y="42680"/>
                  </a:lnTo>
                  <a:cubicBezTo>
                    <a:pt x="0" y="31361"/>
                    <a:pt x="4497" y="20505"/>
                    <a:pt x="12501" y="12501"/>
                  </a:cubicBezTo>
                  <a:cubicBezTo>
                    <a:pt x="20505" y="4497"/>
                    <a:pt x="31361" y="0"/>
                    <a:pt x="42680" y="0"/>
                  </a:cubicBezTo>
                  <a:close/>
                </a:path>
              </a:pathLst>
            </a:custGeom>
            <a:solidFill>
              <a:srgbClr val="FFCE32"/>
            </a:solidFill>
          </p:spPr>
        </p:sp>
        <p:sp>
          <p:nvSpPr>
            <p:cNvPr name="TextBox 12" id="12"/>
            <p:cNvSpPr txBox="true"/>
            <p:nvPr/>
          </p:nvSpPr>
          <p:spPr>
            <a:xfrm>
              <a:off x="0" y="-57150"/>
              <a:ext cx="2006530" cy="822668"/>
            </a:xfrm>
            <a:prstGeom prst="rect">
              <a:avLst/>
            </a:prstGeom>
          </p:spPr>
          <p:txBody>
            <a:bodyPr anchor="ctr" rtlCol="false" tIns="50800" lIns="50800" bIns="50800" rIns="50800"/>
            <a:lstStyle/>
            <a:p>
              <a:pPr algn="ctr">
                <a:lnSpc>
                  <a:spcPts val="3499"/>
                </a:lnSpc>
              </a:pPr>
            </a:p>
          </p:txBody>
        </p:sp>
      </p:grpSp>
      <p:sp>
        <p:nvSpPr>
          <p:cNvPr name="Freeform 13" id="13"/>
          <p:cNvSpPr/>
          <p:nvPr/>
        </p:nvSpPr>
        <p:spPr>
          <a:xfrm flipH="true" flipV="false" rot="0">
            <a:off x="9280971" y="4422494"/>
            <a:ext cx="3058074" cy="3077307"/>
          </a:xfrm>
          <a:custGeom>
            <a:avLst/>
            <a:gdLst/>
            <a:ahLst/>
            <a:cxnLst/>
            <a:rect r="r" b="b" t="t" l="l"/>
            <a:pathLst>
              <a:path h="3077307" w="3058074">
                <a:moveTo>
                  <a:pt x="3058074" y="0"/>
                </a:moveTo>
                <a:lnTo>
                  <a:pt x="0" y="0"/>
                </a:lnTo>
                <a:lnTo>
                  <a:pt x="0" y="3077307"/>
                </a:lnTo>
                <a:lnTo>
                  <a:pt x="3058074" y="3077307"/>
                </a:lnTo>
                <a:lnTo>
                  <a:pt x="3058074"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2044913" y="5878522"/>
            <a:ext cx="7618545" cy="2906574"/>
            <a:chOff x="0" y="0"/>
            <a:chExt cx="2006530" cy="765518"/>
          </a:xfrm>
        </p:grpSpPr>
        <p:sp>
          <p:nvSpPr>
            <p:cNvPr name="Freeform 15" id="15"/>
            <p:cNvSpPr/>
            <p:nvPr/>
          </p:nvSpPr>
          <p:spPr>
            <a:xfrm flipH="false" flipV="false" rot="0">
              <a:off x="0" y="0"/>
              <a:ext cx="2006530" cy="765518"/>
            </a:xfrm>
            <a:custGeom>
              <a:avLst/>
              <a:gdLst/>
              <a:ahLst/>
              <a:cxnLst/>
              <a:rect r="r" b="b" t="t" l="l"/>
              <a:pathLst>
                <a:path h="765518" w="2006530">
                  <a:moveTo>
                    <a:pt x="42680" y="0"/>
                  </a:moveTo>
                  <a:lnTo>
                    <a:pt x="1963850" y="0"/>
                  </a:lnTo>
                  <a:cubicBezTo>
                    <a:pt x="1975170" y="0"/>
                    <a:pt x="1986025" y="4497"/>
                    <a:pt x="1994029" y="12501"/>
                  </a:cubicBezTo>
                  <a:cubicBezTo>
                    <a:pt x="2002034" y="20505"/>
                    <a:pt x="2006530" y="31361"/>
                    <a:pt x="2006530" y="42680"/>
                  </a:cubicBezTo>
                  <a:lnTo>
                    <a:pt x="2006530" y="722837"/>
                  </a:lnTo>
                  <a:cubicBezTo>
                    <a:pt x="2006530" y="734157"/>
                    <a:pt x="2002034" y="745013"/>
                    <a:pt x="1994029" y="753017"/>
                  </a:cubicBezTo>
                  <a:cubicBezTo>
                    <a:pt x="1986025" y="761021"/>
                    <a:pt x="1975170" y="765518"/>
                    <a:pt x="1963850" y="765518"/>
                  </a:cubicBezTo>
                  <a:lnTo>
                    <a:pt x="42680" y="765518"/>
                  </a:lnTo>
                  <a:cubicBezTo>
                    <a:pt x="31361" y="765518"/>
                    <a:pt x="20505" y="761021"/>
                    <a:pt x="12501" y="753017"/>
                  </a:cubicBezTo>
                  <a:cubicBezTo>
                    <a:pt x="4497" y="745013"/>
                    <a:pt x="0" y="734157"/>
                    <a:pt x="0" y="722837"/>
                  </a:cubicBezTo>
                  <a:lnTo>
                    <a:pt x="0" y="42680"/>
                  </a:lnTo>
                  <a:cubicBezTo>
                    <a:pt x="0" y="31361"/>
                    <a:pt x="4497" y="20505"/>
                    <a:pt x="12501" y="12501"/>
                  </a:cubicBezTo>
                  <a:cubicBezTo>
                    <a:pt x="20505" y="4497"/>
                    <a:pt x="31361" y="0"/>
                    <a:pt x="42680" y="0"/>
                  </a:cubicBezTo>
                  <a:close/>
                </a:path>
              </a:pathLst>
            </a:custGeom>
            <a:solidFill>
              <a:srgbClr val="FFCE32"/>
            </a:solidFill>
          </p:spPr>
        </p:sp>
        <p:sp>
          <p:nvSpPr>
            <p:cNvPr name="TextBox 16" id="16"/>
            <p:cNvSpPr txBox="true"/>
            <p:nvPr/>
          </p:nvSpPr>
          <p:spPr>
            <a:xfrm>
              <a:off x="0" y="-57150"/>
              <a:ext cx="2006530" cy="822668"/>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5565224" y="6950016"/>
            <a:ext cx="5440240" cy="4114800"/>
          </a:xfrm>
          <a:custGeom>
            <a:avLst/>
            <a:gdLst/>
            <a:ahLst/>
            <a:cxnLst/>
            <a:rect r="r" b="b" t="t" l="l"/>
            <a:pathLst>
              <a:path h="4114800" w="5440240">
                <a:moveTo>
                  <a:pt x="0" y="0"/>
                </a:moveTo>
                <a:lnTo>
                  <a:pt x="5440240" y="0"/>
                </a:lnTo>
                <a:lnTo>
                  <a:pt x="544024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0" y="6479894"/>
            <a:ext cx="3291122" cy="3900589"/>
          </a:xfrm>
          <a:custGeom>
            <a:avLst/>
            <a:gdLst/>
            <a:ahLst/>
            <a:cxnLst/>
            <a:rect r="r" b="b" t="t" l="l"/>
            <a:pathLst>
              <a:path h="3900589" w="3291122">
                <a:moveTo>
                  <a:pt x="0" y="0"/>
                </a:moveTo>
                <a:lnTo>
                  <a:pt x="3291122" y="0"/>
                </a:lnTo>
                <a:lnTo>
                  <a:pt x="3291122" y="3900589"/>
                </a:lnTo>
                <a:lnTo>
                  <a:pt x="0" y="39005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9" id="19"/>
          <p:cNvGrpSpPr/>
          <p:nvPr/>
        </p:nvGrpSpPr>
        <p:grpSpPr>
          <a:xfrm rot="0">
            <a:off x="11055293" y="6727830"/>
            <a:ext cx="7046030" cy="2530470"/>
            <a:chOff x="0" y="0"/>
            <a:chExt cx="1855744" cy="666461"/>
          </a:xfrm>
        </p:grpSpPr>
        <p:sp>
          <p:nvSpPr>
            <p:cNvPr name="Freeform 20" id="20"/>
            <p:cNvSpPr/>
            <p:nvPr/>
          </p:nvSpPr>
          <p:spPr>
            <a:xfrm flipH="false" flipV="false" rot="0">
              <a:off x="0" y="0"/>
              <a:ext cx="1855744" cy="666461"/>
            </a:xfrm>
            <a:custGeom>
              <a:avLst/>
              <a:gdLst/>
              <a:ahLst/>
              <a:cxnLst/>
              <a:rect r="r" b="b" t="t" l="l"/>
              <a:pathLst>
                <a:path h="666461" w="1855744">
                  <a:moveTo>
                    <a:pt x="46148" y="0"/>
                  </a:moveTo>
                  <a:lnTo>
                    <a:pt x="1809596" y="0"/>
                  </a:lnTo>
                  <a:cubicBezTo>
                    <a:pt x="1821836" y="0"/>
                    <a:pt x="1833574" y="4862"/>
                    <a:pt x="1842228" y="13516"/>
                  </a:cubicBezTo>
                  <a:cubicBezTo>
                    <a:pt x="1850882" y="22171"/>
                    <a:pt x="1855744" y="33909"/>
                    <a:pt x="1855744" y="46148"/>
                  </a:cubicBezTo>
                  <a:lnTo>
                    <a:pt x="1855744" y="620313"/>
                  </a:lnTo>
                  <a:cubicBezTo>
                    <a:pt x="1855744" y="632552"/>
                    <a:pt x="1850882" y="644290"/>
                    <a:pt x="1842228" y="652945"/>
                  </a:cubicBezTo>
                  <a:cubicBezTo>
                    <a:pt x="1833574" y="661599"/>
                    <a:pt x="1821836" y="666461"/>
                    <a:pt x="1809596" y="666461"/>
                  </a:cubicBezTo>
                  <a:lnTo>
                    <a:pt x="46148" y="666461"/>
                  </a:lnTo>
                  <a:cubicBezTo>
                    <a:pt x="33909" y="666461"/>
                    <a:pt x="22171" y="661599"/>
                    <a:pt x="13516" y="652945"/>
                  </a:cubicBezTo>
                  <a:cubicBezTo>
                    <a:pt x="4862" y="644290"/>
                    <a:pt x="0" y="632552"/>
                    <a:pt x="0" y="620313"/>
                  </a:cubicBezTo>
                  <a:lnTo>
                    <a:pt x="0" y="46148"/>
                  </a:lnTo>
                  <a:cubicBezTo>
                    <a:pt x="0" y="33909"/>
                    <a:pt x="4862" y="22171"/>
                    <a:pt x="13516" y="13516"/>
                  </a:cubicBezTo>
                  <a:cubicBezTo>
                    <a:pt x="22171" y="4862"/>
                    <a:pt x="33909" y="0"/>
                    <a:pt x="46148" y="0"/>
                  </a:cubicBezTo>
                  <a:close/>
                </a:path>
              </a:pathLst>
            </a:custGeom>
            <a:solidFill>
              <a:srgbClr val="FFCE32"/>
            </a:solidFill>
          </p:spPr>
        </p:sp>
        <p:sp>
          <p:nvSpPr>
            <p:cNvPr name="TextBox 21" id="21"/>
            <p:cNvSpPr txBox="true"/>
            <p:nvPr/>
          </p:nvSpPr>
          <p:spPr>
            <a:xfrm>
              <a:off x="0" y="-57150"/>
              <a:ext cx="1855744" cy="723611"/>
            </a:xfrm>
            <a:prstGeom prst="rect">
              <a:avLst/>
            </a:prstGeom>
          </p:spPr>
          <p:txBody>
            <a:bodyPr anchor="ctr" rtlCol="false" tIns="50800" lIns="50800" bIns="50800" rIns="50800"/>
            <a:lstStyle/>
            <a:p>
              <a:pPr algn="ctr">
                <a:lnSpc>
                  <a:spcPts val="3499"/>
                </a:lnSpc>
              </a:pPr>
            </a:p>
          </p:txBody>
        </p:sp>
      </p:grpSp>
      <p:sp>
        <p:nvSpPr>
          <p:cNvPr name="Freeform 22" id="22"/>
          <p:cNvSpPr/>
          <p:nvPr/>
        </p:nvSpPr>
        <p:spPr>
          <a:xfrm flipH="false" flipV="false" rot="0">
            <a:off x="13353327" y="-165376"/>
            <a:ext cx="4517246" cy="4114800"/>
          </a:xfrm>
          <a:custGeom>
            <a:avLst/>
            <a:gdLst/>
            <a:ahLst/>
            <a:cxnLst/>
            <a:rect r="r" b="b" t="t" l="l"/>
            <a:pathLst>
              <a:path h="4114800" w="4517246">
                <a:moveTo>
                  <a:pt x="0" y="0"/>
                </a:moveTo>
                <a:lnTo>
                  <a:pt x="4517245" y="0"/>
                </a:lnTo>
                <a:lnTo>
                  <a:pt x="4517245"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3" id="23"/>
          <p:cNvSpPr txBox="true"/>
          <p:nvPr/>
        </p:nvSpPr>
        <p:spPr>
          <a:xfrm rot="0">
            <a:off x="8723909" y="2430053"/>
            <a:ext cx="6506017" cy="1992441"/>
          </a:xfrm>
          <a:prstGeom prst="rect">
            <a:avLst/>
          </a:prstGeom>
        </p:spPr>
        <p:txBody>
          <a:bodyPr anchor="t" rtlCol="false" tIns="0" lIns="0" bIns="0" rIns="0">
            <a:spAutoFit/>
          </a:bodyPr>
          <a:lstStyle/>
          <a:p>
            <a:pPr algn="ctr">
              <a:lnSpc>
                <a:spcPts val="7648"/>
              </a:lnSpc>
            </a:pPr>
            <a:r>
              <a:rPr lang="en-US" sz="7884">
                <a:solidFill>
                  <a:srgbClr val="000000"/>
                </a:solidFill>
                <a:latin typeface="BM Hanna"/>
                <a:ea typeface="BM Hanna"/>
                <a:cs typeface="BM Hanna"/>
                <a:sym typeface="BM Hanna"/>
              </a:rPr>
              <a:t>2. DIRECT ACCES</a:t>
            </a:r>
          </a:p>
        </p:txBody>
      </p:sp>
      <p:sp>
        <p:nvSpPr>
          <p:cNvPr name="TextBox 24" id="24"/>
          <p:cNvSpPr txBox="true"/>
          <p:nvPr/>
        </p:nvSpPr>
        <p:spPr>
          <a:xfrm rot="0">
            <a:off x="2774954" y="6416551"/>
            <a:ext cx="6506017" cy="1992441"/>
          </a:xfrm>
          <a:prstGeom prst="rect">
            <a:avLst/>
          </a:prstGeom>
        </p:spPr>
        <p:txBody>
          <a:bodyPr anchor="t" rtlCol="false" tIns="0" lIns="0" bIns="0" rIns="0">
            <a:spAutoFit/>
          </a:bodyPr>
          <a:lstStyle/>
          <a:p>
            <a:pPr algn="ctr">
              <a:lnSpc>
                <a:spcPts val="7648"/>
              </a:lnSpc>
            </a:pPr>
            <a:r>
              <a:rPr lang="en-US" sz="7884">
                <a:solidFill>
                  <a:srgbClr val="000000"/>
                </a:solidFill>
                <a:latin typeface="BM Hanna"/>
                <a:ea typeface="BM Hanna"/>
                <a:cs typeface="BM Hanna"/>
                <a:sym typeface="BM Hanna"/>
              </a:rPr>
              <a:t>3. RANDOM   ACCES</a:t>
            </a:r>
          </a:p>
        </p:txBody>
      </p:sp>
      <p:sp>
        <p:nvSpPr>
          <p:cNvPr name="TextBox 25" id="25"/>
          <p:cNvSpPr txBox="true"/>
          <p:nvPr/>
        </p:nvSpPr>
        <p:spPr>
          <a:xfrm rot="0">
            <a:off x="11313605" y="7239812"/>
            <a:ext cx="6974395" cy="1659752"/>
          </a:xfrm>
          <a:prstGeom prst="rect">
            <a:avLst/>
          </a:prstGeom>
        </p:spPr>
        <p:txBody>
          <a:bodyPr anchor="t" rtlCol="false" tIns="0" lIns="0" bIns="0" rIns="0">
            <a:spAutoFit/>
          </a:bodyPr>
          <a:lstStyle/>
          <a:p>
            <a:pPr algn="l">
              <a:lnSpc>
                <a:spcPts val="6279"/>
              </a:lnSpc>
            </a:pPr>
            <a:r>
              <a:rPr lang="en-US" sz="6474">
                <a:solidFill>
                  <a:srgbClr val="000000"/>
                </a:solidFill>
                <a:latin typeface="BM Hanna"/>
                <a:ea typeface="BM Hanna"/>
                <a:cs typeface="BM Hanna"/>
                <a:sym typeface="BM Hanna"/>
              </a:rPr>
              <a:t>4. ASSOCIATIVE   ACCES</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0">
            <a:off x="-550654" y="0"/>
            <a:ext cx="5960789" cy="7741284"/>
          </a:xfrm>
          <a:custGeom>
            <a:avLst/>
            <a:gdLst/>
            <a:ahLst/>
            <a:cxnLst/>
            <a:rect r="r" b="b" t="t" l="l"/>
            <a:pathLst>
              <a:path h="7741284" w="5960789">
                <a:moveTo>
                  <a:pt x="0" y="0"/>
                </a:moveTo>
                <a:lnTo>
                  <a:pt x="5960788" y="0"/>
                </a:lnTo>
                <a:lnTo>
                  <a:pt x="5960788" y="7741284"/>
                </a:lnTo>
                <a:lnTo>
                  <a:pt x="0" y="77412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755837">
            <a:off x="4725634" y="2043310"/>
            <a:ext cx="2536569" cy="3461819"/>
          </a:xfrm>
          <a:custGeom>
            <a:avLst/>
            <a:gdLst/>
            <a:ahLst/>
            <a:cxnLst/>
            <a:rect r="r" b="b" t="t" l="l"/>
            <a:pathLst>
              <a:path h="3461819" w="2536569">
                <a:moveTo>
                  <a:pt x="0" y="0"/>
                </a:moveTo>
                <a:lnTo>
                  <a:pt x="2536569" y="0"/>
                </a:lnTo>
                <a:lnTo>
                  <a:pt x="2536569" y="3461819"/>
                </a:lnTo>
                <a:lnTo>
                  <a:pt x="0" y="34618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531947" y="6744687"/>
            <a:ext cx="3595229" cy="2542807"/>
          </a:xfrm>
          <a:custGeom>
            <a:avLst/>
            <a:gdLst/>
            <a:ahLst/>
            <a:cxnLst/>
            <a:rect r="r" b="b" t="t" l="l"/>
            <a:pathLst>
              <a:path h="2542807" w="3595229">
                <a:moveTo>
                  <a:pt x="0" y="0"/>
                </a:moveTo>
                <a:lnTo>
                  <a:pt x="3595228" y="0"/>
                </a:lnTo>
                <a:lnTo>
                  <a:pt x="3595228" y="2542807"/>
                </a:lnTo>
                <a:lnTo>
                  <a:pt x="0" y="25428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6531947" y="3376680"/>
            <a:ext cx="10836551" cy="4000891"/>
            <a:chOff x="0" y="0"/>
            <a:chExt cx="2854071" cy="1053733"/>
          </a:xfrm>
        </p:grpSpPr>
        <p:sp>
          <p:nvSpPr>
            <p:cNvPr name="Freeform 7" id="7"/>
            <p:cNvSpPr/>
            <p:nvPr/>
          </p:nvSpPr>
          <p:spPr>
            <a:xfrm flipH="false" flipV="false" rot="0">
              <a:off x="0" y="0"/>
              <a:ext cx="2854071" cy="1053733"/>
            </a:xfrm>
            <a:custGeom>
              <a:avLst/>
              <a:gdLst/>
              <a:ahLst/>
              <a:cxnLst/>
              <a:rect r="r" b="b" t="t" l="l"/>
              <a:pathLst>
                <a:path h="1053733" w="2854071">
                  <a:moveTo>
                    <a:pt x="30006" y="0"/>
                  </a:moveTo>
                  <a:lnTo>
                    <a:pt x="2824065" y="0"/>
                  </a:lnTo>
                  <a:cubicBezTo>
                    <a:pt x="2832023" y="0"/>
                    <a:pt x="2839655" y="3161"/>
                    <a:pt x="2845283" y="8789"/>
                  </a:cubicBezTo>
                  <a:cubicBezTo>
                    <a:pt x="2850910" y="14416"/>
                    <a:pt x="2854071" y="22048"/>
                    <a:pt x="2854071" y="30006"/>
                  </a:cubicBezTo>
                  <a:lnTo>
                    <a:pt x="2854071" y="1023727"/>
                  </a:lnTo>
                  <a:cubicBezTo>
                    <a:pt x="2854071" y="1031685"/>
                    <a:pt x="2850910" y="1039317"/>
                    <a:pt x="2845283" y="1044944"/>
                  </a:cubicBezTo>
                  <a:cubicBezTo>
                    <a:pt x="2839655" y="1050571"/>
                    <a:pt x="2832023" y="1053733"/>
                    <a:pt x="2824065" y="1053733"/>
                  </a:cubicBezTo>
                  <a:lnTo>
                    <a:pt x="30006" y="1053733"/>
                  </a:lnTo>
                  <a:cubicBezTo>
                    <a:pt x="22048" y="1053733"/>
                    <a:pt x="14416" y="1050571"/>
                    <a:pt x="8789" y="1044944"/>
                  </a:cubicBezTo>
                  <a:cubicBezTo>
                    <a:pt x="3161" y="1039317"/>
                    <a:pt x="0" y="1031685"/>
                    <a:pt x="0" y="1023727"/>
                  </a:cubicBezTo>
                  <a:lnTo>
                    <a:pt x="0" y="30006"/>
                  </a:lnTo>
                  <a:cubicBezTo>
                    <a:pt x="0" y="22048"/>
                    <a:pt x="3161" y="14416"/>
                    <a:pt x="8789" y="8789"/>
                  </a:cubicBezTo>
                  <a:cubicBezTo>
                    <a:pt x="14416" y="3161"/>
                    <a:pt x="22048" y="0"/>
                    <a:pt x="30006" y="0"/>
                  </a:cubicBezTo>
                  <a:close/>
                </a:path>
              </a:pathLst>
            </a:custGeom>
            <a:solidFill>
              <a:srgbClr val="FFCE32"/>
            </a:solidFill>
          </p:spPr>
        </p:sp>
        <p:sp>
          <p:nvSpPr>
            <p:cNvPr name="TextBox 8" id="8"/>
            <p:cNvSpPr txBox="true"/>
            <p:nvPr/>
          </p:nvSpPr>
          <p:spPr>
            <a:xfrm>
              <a:off x="0" y="-57150"/>
              <a:ext cx="2854071" cy="1110883"/>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false" flipV="false" rot="0">
            <a:off x="14216803" y="509649"/>
            <a:ext cx="5298582" cy="4633851"/>
          </a:xfrm>
          <a:custGeom>
            <a:avLst/>
            <a:gdLst/>
            <a:ahLst/>
            <a:cxnLst/>
            <a:rect r="r" b="b" t="t" l="l"/>
            <a:pathLst>
              <a:path h="4633851" w="5298582">
                <a:moveTo>
                  <a:pt x="0" y="0"/>
                </a:moveTo>
                <a:lnTo>
                  <a:pt x="5298583" y="0"/>
                </a:lnTo>
                <a:lnTo>
                  <a:pt x="5298583" y="4633851"/>
                </a:lnTo>
                <a:lnTo>
                  <a:pt x="0" y="46338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1271139">
            <a:off x="16008270" y="6206843"/>
            <a:ext cx="1715649" cy="2341456"/>
          </a:xfrm>
          <a:custGeom>
            <a:avLst/>
            <a:gdLst/>
            <a:ahLst/>
            <a:cxnLst/>
            <a:rect r="r" b="b" t="t" l="l"/>
            <a:pathLst>
              <a:path h="2341456" w="1715649">
                <a:moveTo>
                  <a:pt x="0" y="0"/>
                </a:moveTo>
                <a:lnTo>
                  <a:pt x="1715649" y="0"/>
                </a:lnTo>
                <a:lnTo>
                  <a:pt x="1715649" y="2341456"/>
                </a:lnTo>
                <a:lnTo>
                  <a:pt x="0" y="23414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1419711">
            <a:off x="-361293" y="6724833"/>
            <a:ext cx="3275863" cy="3654614"/>
          </a:xfrm>
          <a:custGeom>
            <a:avLst/>
            <a:gdLst/>
            <a:ahLst/>
            <a:cxnLst/>
            <a:rect r="r" b="b" t="t" l="l"/>
            <a:pathLst>
              <a:path h="3654614" w="3275863">
                <a:moveTo>
                  <a:pt x="0" y="0"/>
                </a:moveTo>
                <a:lnTo>
                  <a:pt x="3275863" y="0"/>
                </a:lnTo>
                <a:lnTo>
                  <a:pt x="3275863" y="3654614"/>
                </a:lnTo>
                <a:lnTo>
                  <a:pt x="0" y="36546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429740" y="7741284"/>
            <a:ext cx="3897838" cy="4114800"/>
          </a:xfrm>
          <a:custGeom>
            <a:avLst/>
            <a:gdLst/>
            <a:ahLst/>
            <a:cxnLst/>
            <a:rect r="r" b="b" t="t" l="l"/>
            <a:pathLst>
              <a:path h="4114800" w="3897838">
                <a:moveTo>
                  <a:pt x="0" y="0"/>
                </a:moveTo>
                <a:lnTo>
                  <a:pt x="3897838" y="0"/>
                </a:lnTo>
                <a:lnTo>
                  <a:pt x="3897838"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3" id="13"/>
          <p:cNvSpPr txBox="true"/>
          <p:nvPr/>
        </p:nvSpPr>
        <p:spPr>
          <a:xfrm rot="0">
            <a:off x="6531947" y="1626095"/>
            <a:ext cx="9462836" cy="1311274"/>
          </a:xfrm>
          <a:prstGeom prst="rect">
            <a:avLst/>
          </a:prstGeom>
        </p:spPr>
        <p:txBody>
          <a:bodyPr anchor="t" rtlCol="false" tIns="0" lIns="0" bIns="0" rIns="0">
            <a:spAutoFit/>
          </a:bodyPr>
          <a:lstStyle/>
          <a:p>
            <a:pPr algn="ctr">
              <a:lnSpc>
                <a:spcPts val="9699"/>
              </a:lnSpc>
            </a:pPr>
            <a:r>
              <a:rPr lang="en-US" sz="9999">
                <a:solidFill>
                  <a:srgbClr val="FFFFFF"/>
                </a:solidFill>
                <a:latin typeface="BM Hanna"/>
                <a:ea typeface="BM Hanna"/>
                <a:cs typeface="BM Hanna"/>
                <a:sym typeface="BM Hanna"/>
              </a:rPr>
              <a:t>KESIMPULAN</a:t>
            </a:r>
          </a:p>
        </p:txBody>
      </p:sp>
      <p:sp>
        <p:nvSpPr>
          <p:cNvPr name="TextBox 14" id="14"/>
          <p:cNvSpPr txBox="true"/>
          <p:nvPr/>
        </p:nvSpPr>
        <p:spPr>
          <a:xfrm rot="0">
            <a:off x="7146822" y="3657271"/>
            <a:ext cx="9606800" cy="3363510"/>
          </a:xfrm>
          <a:prstGeom prst="rect">
            <a:avLst/>
          </a:prstGeom>
        </p:spPr>
        <p:txBody>
          <a:bodyPr anchor="t" rtlCol="false" tIns="0" lIns="0" bIns="0" rIns="0">
            <a:spAutoFit/>
          </a:bodyPr>
          <a:lstStyle/>
          <a:p>
            <a:pPr algn="just">
              <a:lnSpc>
                <a:spcPts val="3877"/>
              </a:lnSpc>
            </a:pPr>
            <a:r>
              <a:rPr lang="en-US" sz="2585">
                <a:solidFill>
                  <a:srgbClr val="000000"/>
                </a:solidFill>
                <a:latin typeface="Canva Sans"/>
                <a:ea typeface="Canva Sans"/>
                <a:cs typeface="Canva Sans"/>
                <a:sym typeface="Canva Sans"/>
              </a:rPr>
              <a:t>Dengan banyaknya hal atau sesuatu yang terdapat di software pasti sangat berguna dan bermanfaat bagi banyak orang yang menggunakan teknologi, termasuk Memory. Banyak dampak positif bagi kemajuan digital di era saat ini dan pasti sangat berpengaruh keapada aspek yang lain, contohnya perekonomian dan masih banyak lagi. </a:t>
            </a:r>
          </a:p>
          <a:p>
            <a:pPr algn="just">
              <a:lnSpc>
                <a:spcPts val="3877"/>
              </a:lnSpc>
            </a:pPr>
          </a:p>
        </p:txBody>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sp>
        <p:nvSpPr>
          <p:cNvPr name="Freeform 3" id="3"/>
          <p:cNvSpPr/>
          <p:nvPr/>
        </p:nvSpPr>
        <p:spPr>
          <a:xfrm flipH="false" flipV="false" rot="0">
            <a:off x="-2498597" y="-108828"/>
            <a:ext cx="6582509" cy="10746953"/>
          </a:xfrm>
          <a:custGeom>
            <a:avLst/>
            <a:gdLst/>
            <a:ahLst/>
            <a:cxnLst/>
            <a:rect r="r" b="b" t="t" l="l"/>
            <a:pathLst>
              <a:path h="10746953" w="6582509">
                <a:moveTo>
                  <a:pt x="0" y="0"/>
                </a:moveTo>
                <a:lnTo>
                  <a:pt x="6582509" y="0"/>
                </a:lnTo>
                <a:lnTo>
                  <a:pt x="6582509" y="10746953"/>
                </a:lnTo>
                <a:lnTo>
                  <a:pt x="0" y="10746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797725">
            <a:off x="13679956" y="-1054879"/>
            <a:ext cx="4476702" cy="4994292"/>
          </a:xfrm>
          <a:custGeom>
            <a:avLst/>
            <a:gdLst/>
            <a:ahLst/>
            <a:cxnLst/>
            <a:rect r="r" b="b" t="t" l="l"/>
            <a:pathLst>
              <a:path h="4994292" w="4476702">
                <a:moveTo>
                  <a:pt x="0" y="0"/>
                </a:moveTo>
                <a:lnTo>
                  <a:pt x="4476701" y="0"/>
                </a:lnTo>
                <a:lnTo>
                  <a:pt x="4476701" y="4994292"/>
                </a:lnTo>
                <a:lnTo>
                  <a:pt x="0" y="49942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944550" y="2366363"/>
            <a:ext cx="5751911" cy="14071953"/>
          </a:xfrm>
          <a:custGeom>
            <a:avLst/>
            <a:gdLst/>
            <a:ahLst/>
            <a:cxnLst/>
            <a:rect r="r" b="b" t="t" l="l"/>
            <a:pathLst>
              <a:path h="14071953" w="5751911">
                <a:moveTo>
                  <a:pt x="0" y="0"/>
                </a:moveTo>
                <a:lnTo>
                  <a:pt x="5751911" y="0"/>
                </a:lnTo>
                <a:lnTo>
                  <a:pt x="5751911" y="14071954"/>
                </a:lnTo>
                <a:lnTo>
                  <a:pt x="0" y="140719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792658" y="5143500"/>
            <a:ext cx="4946577" cy="5519194"/>
          </a:xfrm>
          <a:custGeom>
            <a:avLst/>
            <a:gdLst/>
            <a:ahLst/>
            <a:cxnLst/>
            <a:rect r="r" b="b" t="t" l="l"/>
            <a:pathLst>
              <a:path h="5519194" w="4946577">
                <a:moveTo>
                  <a:pt x="4946577" y="0"/>
                </a:moveTo>
                <a:lnTo>
                  <a:pt x="0" y="0"/>
                </a:lnTo>
                <a:lnTo>
                  <a:pt x="0" y="5519194"/>
                </a:lnTo>
                <a:lnTo>
                  <a:pt x="4946577" y="5519194"/>
                </a:lnTo>
                <a:lnTo>
                  <a:pt x="4946577"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false" rot="0">
            <a:off x="11066058" y="4957733"/>
            <a:ext cx="6322410" cy="7438130"/>
          </a:xfrm>
          <a:custGeom>
            <a:avLst/>
            <a:gdLst/>
            <a:ahLst/>
            <a:cxnLst/>
            <a:rect r="r" b="b" t="t" l="l"/>
            <a:pathLst>
              <a:path h="7438130" w="6322410">
                <a:moveTo>
                  <a:pt x="6322410" y="0"/>
                </a:moveTo>
                <a:lnTo>
                  <a:pt x="0" y="0"/>
                </a:lnTo>
                <a:lnTo>
                  <a:pt x="0" y="7438130"/>
                </a:lnTo>
                <a:lnTo>
                  <a:pt x="6322410" y="7438130"/>
                </a:lnTo>
                <a:lnTo>
                  <a:pt x="632241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4626842" y="3187376"/>
            <a:ext cx="9034317" cy="4264673"/>
          </a:xfrm>
          <a:prstGeom prst="rect">
            <a:avLst/>
          </a:prstGeom>
        </p:spPr>
        <p:txBody>
          <a:bodyPr anchor="t" rtlCol="false" tIns="0" lIns="0" bIns="0" rIns="0">
            <a:spAutoFit/>
          </a:bodyPr>
          <a:lstStyle/>
          <a:p>
            <a:pPr algn="ctr" marL="0" indent="0" lvl="0">
              <a:lnSpc>
                <a:spcPts val="16315"/>
              </a:lnSpc>
              <a:spcBef>
                <a:spcPct val="0"/>
              </a:spcBef>
            </a:pPr>
            <a:r>
              <a:rPr lang="en-US" sz="16819">
                <a:solidFill>
                  <a:srgbClr val="FFFFFF"/>
                </a:solidFill>
                <a:latin typeface="BM Hanna"/>
                <a:ea typeface="BM Hanna"/>
                <a:cs typeface="BM Hanna"/>
                <a:sym typeface="BM Hanna"/>
              </a:rPr>
              <a:t>THANK YOU</a:t>
            </a:r>
          </a:p>
        </p:txBody>
      </p:sp>
      <p:sp>
        <p:nvSpPr>
          <p:cNvPr name="Freeform 9" id="9"/>
          <p:cNvSpPr/>
          <p:nvPr/>
        </p:nvSpPr>
        <p:spPr>
          <a:xfrm flipH="false" flipV="false" rot="0">
            <a:off x="5976517" y="-809891"/>
            <a:ext cx="4294014" cy="3427404"/>
          </a:xfrm>
          <a:custGeom>
            <a:avLst/>
            <a:gdLst/>
            <a:ahLst/>
            <a:cxnLst/>
            <a:rect r="r" b="b" t="t" l="l"/>
            <a:pathLst>
              <a:path h="3427404" w="4294014">
                <a:moveTo>
                  <a:pt x="0" y="0"/>
                </a:moveTo>
                <a:lnTo>
                  <a:pt x="4294014" y="0"/>
                </a:lnTo>
                <a:lnTo>
                  <a:pt x="4294014" y="3427404"/>
                </a:lnTo>
                <a:lnTo>
                  <a:pt x="0" y="34274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526312">
            <a:off x="6081818" y="6805324"/>
            <a:ext cx="5385775" cy="4905951"/>
          </a:xfrm>
          <a:custGeom>
            <a:avLst/>
            <a:gdLst/>
            <a:ahLst/>
            <a:cxnLst/>
            <a:rect r="r" b="b" t="t" l="l"/>
            <a:pathLst>
              <a:path h="4905951" w="5385775">
                <a:moveTo>
                  <a:pt x="0" y="0"/>
                </a:moveTo>
                <a:lnTo>
                  <a:pt x="5385774" y="0"/>
                </a:lnTo>
                <a:lnTo>
                  <a:pt x="5385774" y="4905952"/>
                </a:lnTo>
                <a:lnTo>
                  <a:pt x="0" y="490595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DAGRc1sKSDE</dc:identifier>
  <dcterms:modified xsi:type="dcterms:W3CDTF">2011-08-01T06:04:30Z</dcterms:modified>
  <cp:revision>1</cp:revision>
  <dc:title>Presentation By Group 2</dc:title>
</cp:coreProperties>
</file>